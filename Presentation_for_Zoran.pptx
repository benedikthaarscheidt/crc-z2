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9" r:id="rId3"/>
    <p:sldId id="257" r:id="rId4"/>
    <p:sldId id="281" r:id="rId5"/>
    <p:sldId id="312" r:id="rId6"/>
    <p:sldId id="313" r:id="rId7"/>
    <p:sldId id="314" r:id="rId8"/>
    <p:sldId id="315" r:id="rId9"/>
    <p:sldId id="263" r:id="rId10"/>
    <p:sldId id="258" r:id="rId11"/>
    <p:sldId id="259" r:id="rId12"/>
    <p:sldId id="266" r:id="rId13"/>
    <p:sldId id="260" r:id="rId14"/>
    <p:sldId id="261" r:id="rId15"/>
    <p:sldId id="262" r:id="rId16"/>
    <p:sldId id="264" r:id="rId17"/>
    <p:sldId id="265" r:id="rId18"/>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43"/>
    <p:restoredTop sz="94719"/>
  </p:normalViewPr>
  <p:slideViewPr>
    <p:cSldViewPr snapToGrid="0">
      <p:cViewPr varScale="1">
        <p:scale>
          <a:sx n="152" d="100"/>
          <a:sy n="152" d="100"/>
        </p:scale>
        <p:origin x="101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19F5A8-5B77-4840-BC65-942EDC223BAB}" type="datetimeFigureOut">
              <a:rPr lang="en-DE" smtClean="0"/>
              <a:t>25.07.25</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E9522B-BDE6-344D-99BC-31C8A51E9D58}" type="slidenum">
              <a:rPr lang="en-DE" smtClean="0"/>
              <a:t>‹#›</a:t>
            </a:fld>
            <a:endParaRPr lang="en-DE"/>
          </a:p>
        </p:txBody>
      </p:sp>
    </p:spTree>
    <p:extLst>
      <p:ext uri="{BB962C8B-B14F-4D97-AF65-F5344CB8AC3E}">
        <p14:creationId xmlns:p14="http://schemas.microsoft.com/office/powerpoint/2010/main" val="553279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E" dirty="0"/>
              <a:t>https://besjournals.onlinelibrary.wiley.com/doi/10.1111/j.2041-210X.2011.00160.x</a:t>
            </a:r>
          </a:p>
          <a:p>
            <a:endParaRPr lang="en-DE" dirty="0"/>
          </a:p>
        </p:txBody>
      </p:sp>
      <p:sp>
        <p:nvSpPr>
          <p:cNvPr id="4" name="Slide Number Placeholder 3"/>
          <p:cNvSpPr>
            <a:spLocks noGrp="1"/>
          </p:cNvSpPr>
          <p:nvPr>
            <p:ph type="sldNum" sz="quarter" idx="5"/>
          </p:nvPr>
        </p:nvSpPr>
        <p:spPr/>
        <p:txBody>
          <a:bodyPr/>
          <a:lstStyle/>
          <a:p>
            <a:fld id="{F7A27103-EA69-184A-848F-7AFB28D74993}" type="slidenum">
              <a:rPr lang="en-DE" smtClean="0"/>
              <a:t>2</a:t>
            </a:fld>
            <a:endParaRPr lang="en-DE"/>
          </a:p>
        </p:txBody>
      </p:sp>
    </p:spTree>
    <p:extLst>
      <p:ext uri="{BB962C8B-B14F-4D97-AF65-F5344CB8AC3E}">
        <p14:creationId xmlns:p14="http://schemas.microsoft.com/office/powerpoint/2010/main" val="961846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39C87-585D-9E4C-0689-A99E8EA94F3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DE"/>
          </a:p>
        </p:txBody>
      </p:sp>
      <p:sp>
        <p:nvSpPr>
          <p:cNvPr id="3" name="Subtitle 2">
            <a:extLst>
              <a:ext uri="{FF2B5EF4-FFF2-40B4-BE49-F238E27FC236}">
                <a16:creationId xmlns:a16="http://schemas.microsoft.com/office/drawing/2014/main" id="{1EDF9E9E-28FF-56C4-0181-D6053882CA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DE"/>
          </a:p>
        </p:txBody>
      </p:sp>
      <p:sp>
        <p:nvSpPr>
          <p:cNvPr id="4" name="Date Placeholder 3">
            <a:extLst>
              <a:ext uri="{FF2B5EF4-FFF2-40B4-BE49-F238E27FC236}">
                <a16:creationId xmlns:a16="http://schemas.microsoft.com/office/drawing/2014/main" id="{4FED003B-334E-A006-971D-E3A4A73DEFC9}"/>
              </a:ext>
            </a:extLst>
          </p:cNvPr>
          <p:cNvSpPr>
            <a:spLocks noGrp="1"/>
          </p:cNvSpPr>
          <p:nvPr>
            <p:ph type="dt" sz="half" idx="10"/>
          </p:nvPr>
        </p:nvSpPr>
        <p:spPr/>
        <p:txBody>
          <a:bodyPr/>
          <a:lstStyle/>
          <a:p>
            <a:fld id="{BC59CB55-A43D-CF4D-8B86-D2C70A506C1F}" type="datetimeFigureOut">
              <a:rPr lang="en-DE" smtClean="0"/>
              <a:t>25.07.25</a:t>
            </a:fld>
            <a:endParaRPr lang="en-DE"/>
          </a:p>
        </p:txBody>
      </p:sp>
      <p:sp>
        <p:nvSpPr>
          <p:cNvPr id="5" name="Footer Placeholder 4">
            <a:extLst>
              <a:ext uri="{FF2B5EF4-FFF2-40B4-BE49-F238E27FC236}">
                <a16:creationId xmlns:a16="http://schemas.microsoft.com/office/drawing/2014/main" id="{9E4C5041-C9E6-20B6-6F72-8CD86A1CB706}"/>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024A677C-0202-5D3F-FF2A-DFD687DECE96}"/>
              </a:ext>
            </a:extLst>
          </p:cNvPr>
          <p:cNvSpPr>
            <a:spLocks noGrp="1"/>
          </p:cNvSpPr>
          <p:nvPr>
            <p:ph type="sldNum" sz="quarter" idx="12"/>
          </p:nvPr>
        </p:nvSpPr>
        <p:spPr/>
        <p:txBody>
          <a:bodyPr/>
          <a:lstStyle/>
          <a:p>
            <a:fld id="{A02B11A2-14D9-2B47-9F46-CCAD400A8678}" type="slidenum">
              <a:rPr lang="en-DE" smtClean="0"/>
              <a:t>‹#›</a:t>
            </a:fld>
            <a:endParaRPr lang="en-DE"/>
          </a:p>
        </p:txBody>
      </p:sp>
    </p:spTree>
    <p:extLst>
      <p:ext uri="{BB962C8B-B14F-4D97-AF65-F5344CB8AC3E}">
        <p14:creationId xmlns:p14="http://schemas.microsoft.com/office/powerpoint/2010/main" val="6436877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48F34-6BB3-917A-854C-040308804B35}"/>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E4C1522F-4CF3-4145-B4B1-E665710D9BF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9B3347CD-73BE-F198-DC3C-5ADB54388003}"/>
              </a:ext>
            </a:extLst>
          </p:cNvPr>
          <p:cNvSpPr>
            <a:spLocks noGrp="1"/>
          </p:cNvSpPr>
          <p:nvPr>
            <p:ph type="dt" sz="half" idx="10"/>
          </p:nvPr>
        </p:nvSpPr>
        <p:spPr/>
        <p:txBody>
          <a:bodyPr/>
          <a:lstStyle/>
          <a:p>
            <a:fld id="{BC59CB55-A43D-CF4D-8B86-D2C70A506C1F}" type="datetimeFigureOut">
              <a:rPr lang="en-DE" smtClean="0"/>
              <a:t>25.07.25</a:t>
            </a:fld>
            <a:endParaRPr lang="en-DE"/>
          </a:p>
        </p:txBody>
      </p:sp>
      <p:sp>
        <p:nvSpPr>
          <p:cNvPr id="5" name="Footer Placeholder 4">
            <a:extLst>
              <a:ext uri="{FF2B5EF4-FFF2-40B4-BE49-F238E27FC236}">
                <a16:creationId xmlns:a16="http://schemas.microsoft.com/office/drawing/2014/main" id="{F4609892-9F75-02E3-B908-A5E35EACFBFE}"/>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C8C5C10D-7033-7B2A-EEAA-3919BD846343}"/>
              </a:ext>
            </a:extLst>
          </p:cNvPr>
          <p:cNvSpPr>
            <a:spLocks noGrp="1"/>
          </p:cNvSpPr>
          <p:nvPr>
            <p:ph type="sldNum" sz="quarter" idx="12"/>
          </p:nvPr>
        </p:nvSpPr>
        <p:spPr/>
        <p:txBody>
          <a:bodyPr/>
          <a:lstStyle/>
          <a:p>
            <a:fld id="{A02B11A2-14D9-2B47-9F46-CCAD400A8678}" type="slidenum">
              <a:rPr lang="en-DE" smtClean="0"/>
              <a:t>‹#›</a:t>
            </a:fld>
            <a:endParaRPr lang="en-DE"/>
          </a:p>
        </p:txBody>
      </p:sp>
    </p:spTree>
    <p:extLst>
      <p:ext uri="{BB962C8B-B14F-4D97-AF65-F5344CB8AC3E}">
        <p14:creationId xmlns:p14="http://schemas.microsoft.com/office/powerpoint/2010/main" val="3369915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8D80A-6CB0-9C3E-224C-967F1ADF772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DE"/>
          </a:p>
        </p:txBody>
      </p:sp>
      <p:sp>
        <p:nvSpPr>
          <p:cNvPr id="3" name="Text Placeholder 2">
            <a:extLst>
              <a:ext uri="{FF2B5EF4-FFF2-40B4-BE49-F238E27FC236}">
                <a16:creationId xmlns:a16="http://schemas.microsoft.com/office/drawing/2014/main" id="{ED1F942E-DE59-15EC-E7B0-4B15F31937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8FF5CFD-A1A3-749A-03D7-BE976E1EB7F7}"/>
              </a:ext>
            </a:extLst>
          </p:cNvPr>
          <p:cNvSpPr>
            <a:spLocks noGrp="1"/>
          </p:cNvSpPr>
          <p:nvPr>
            <p:ph type="dt" sz="half" idx="10"/>
          </p:nvPr>
        </p:nvSpPr>
        <p:spPr/>
        <p:txBody>
          <a:bodyPr/>
          <a:lstStyle/>
          <a:p>
            <a:fld id="{BC59CB55-A43D-CF4D-8B86-D2C70A506C1F}" type="datetimeFigureOut">
              <a:rPr lang="en-DE" smtClean="0"/>
              <a:t>25.07.25</a:t>
            </a:fld>
            <a:endParaRPr lang="en-DE"/>
          </a:p>
        </p:txBody>
      </p:sp>
      <p:sp>
        <p:nvSpPr>
          <p:cNvPr id="5" name="Footer Placeholder 4">
            <a:extLst>
              <a:ext uri="{FF2B5EF4-FFF2-40B4-BE49-F238E27FC236}">
                <a16:creationId xmlns:a16="http://schemas.microsoft.com/office/drawing/2014/main" id="{E7D74F30-5271-492A-3BC5-E3131D699549}"/>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5DA83231-9163-C50C-CE1F-D7D6518A7D3E}"/>
              </a:ext>
            </a:extLst>
          </p:cNvPr>
          <p:cNvSpPr>
            <a:spLocks noGrp="1"/>
          </p:cNvSpPr>
          <p:nvPr>
            <p:ph type="sldNum" sz="quarter" idx="12"/>
          </p:nvPr>
        </p:nvSpPr>
        <p:spPr/>
        <p:txBody>
          <a:bodyPr/>
          <a:lstStyle/>
          <a:p>
            <a:fld id="{A02B11A2-14D9-2B47-9F46-CCAD400A8678}" type="slidenum">
              <a:rPr lang="en-DE" smtClean="0"/>
              <a:t>‹#›</a:t>
            </a:fld>
            <a:endParaRPr lang="en-DE"/>
          </a:p>
        </p:txBody>
      </p:sp>
    </p:spTree>
    <p:extLst>
      <p:ext uri="{BB962C8B-B14F-4D97-AF65-F5344CB8AC3E}">
        <p14:creationId xmlns:p14="http://schemas.microsoft.com/office/powerpoint/2010/main" val="2128588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36C02-0768-6DAD-E39D-26200D227F41}"/>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7D24BFB5-24C8-B4FE-AD8C-F62C867889F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Content Placeholder 3">
            <a:extLst>
              <a:ext uri="{FF2B5EF4-FFF2-40B4-BE49-F238E27FC236}">
                <a16:creationId xmlns:a16="http://schemas.microsoft.com/office/drawing/2014/main" id="{62E1214A-FE9B-A9A5-89D6-2AF7FD3F4B4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Date Placeholder 4">
            <a:extLst>
              <a:ext uri="{FF2B5EF4-FFF2-40B4-BE49-F238E27FC236}">
                <a16:creationId xmlns:a16="http://schemas.microsoft.com/office/drawing/2014/main" id="{52B89AFE-88D7-204F-E2E9-2011775BA3D8}"/>
              </a:ext>
            </a:extLst>
          </p:cNvPr>
          <p:cNvSpPr>
            <a:spLocks noGrp="1"/>
          </p:cNvSpPr>
          <p:nvPr>
            <p:ph type="dt" sz="half" idx="10"/>
          </p:nvPr>
        </p:nvSpPr>
        <p:spPr/>
        <p:txBody>
          <a:bodyPr/>
          <a:lstStyle/>
          <a:p>
            <a:fld id="{BC59CB55-A43D-CF4D-8B86-D2C70A506C1F}" type="datetimeFigureOut">
              <a:rPr lang="en-DE" smtClean="0"/>
              <a:t>25.07.25</a:t>
            </a:fld>
            <a:endParaRPr lang="en-DE"/>
          </a:p>
        </p:txBody>
      </p:sp>
      <p:sp>
        <p:nvSpPr>
          <p:cNvPr id="6" name="Footer Placeholder 5">
            <a:extLst>
              <a:ext uri="{FF2B5EF4-FFF2-40B4-BE49-F238E27FC236}">
                <a16:creationId xmlns:a16="http://schemas.microsoft.com/office/drawing/2014/main" id="{B83F2253-83DA-9A23-1954-371053FD790C}"/>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255EA354-D0CD-F479-1F93-39E8C2FA34C9}"/>
              </a:ext>
            </a:extLst>
          </p:cNvPr>
          <p:cNvSpPr>
            <a:spLocks noGrp="1"/>
          </p:cNvSpPr>
          <p:nvPr>
            <p:ph type="sldNum" sz="quarter" idx="12"/>
          </p:nvPr>
        </p:nvSpPr>
        <p:spPr/>
        <p:txBody>
          <a:bodyPr/>
          <a:lstStyle/>
          <a:p>
            <a:fld id="{A02B11A2-14D9-2B47-9F46-CCAD400A8678}" type="slidenum">
              <a:rPr lang="en-DE" smtClean="0"/>
              <a:t>‹#›</a:t>
            </a:fld>
            <a:endParaRPr lang="en-DE"/>
          </a:p>
        </p:txBody>
      </p:sp>
    </p:spTree>
    <p:extLst>
      <p:ext uri="{BB962C8B-B14F-4D97-AF65-F5344CB8AC3E}">
        <p14:creationId xmlns:p14="http://schemas.microsoft.com/office/powerpoint/2010/main" val="3586878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EE353-5839-1F38-010B-882B4CEF5AE9}"/>
              </a:ext>
            </a:extLst>
          </p:cNvPr>
          <p:cNvSpPr>
            <a:spLocks noGrp="1"/>
          </p:cNvSpPr>
          <p:nvPr>
            <p:ph type="title"/>
          </p:nvPr>
        </p:nvSpPr>
        <p:spPr>
          <a:xfrm>
            <a:off x="839788" y="365125"/>
            <a:ext cx="10515600" cy="1325563"/>
          </a:xfrm>
        </p:spPr>
        <p:txBody>
          <a:bodyPr/>
          <a:lstStyle/>
          <a:p>
            <a:r>
              <a:rPr lang="en-GB"/>
              <a:t>Click to edit Master title style</a:t>
            </a:r>
            <a:endParaRPr lang="en-DE"/>
          </a:p>
        </p:txBody>
      </p:sp>
      <p:sp>
        <p:nvSpPr>
          <p:cNvPr id="3" name="Text Placeholder 2">
            <a:extLst>
              <a:ext uri="{FF2B5EF4-FFF2-40B4-BE49-F238E27FC236}">
                <a16:creationId xmlns:a16="http://schemas.microsoft.com/office/drawing/2014/main" id="{3ED86C81-1817-A99B-61BD-300479EB9A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CFCC70F-7C78-60A4-935F-E0A1A459741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Text Placeholder 4">
            <a:extLst>
              <a:ext uri="{FF2B5EF4-FFF2-40B4-BE49-F238E27FC236}">
                <a16:creationId xmlns:a16="http://schemas.microsoft.com/office/drawing/2014/main" id="{725622CA-2CF6-BB79-01CA-5846C42FB4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3134773-F9DE-D998-F852-C3FE06E682A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7" name="Date Placeholder 6">
            <a:extLst>
              <a:ext uri="{FF2B5EF4-FFF2-40B4-BE49-F238E27FC236}">
                <a16:creationId xmlns:a16="http://schemas.microsoft.com/office/drawing/2014/main" id="{AF6CAA19-1CA1-E8E9-5458-BFCD02D72C35}"/>
              </a:ext>
            </a:extLst>
          </p:cNvPr>
          <p:cNvSpPr>
            <a:spLocks noGrp="1"/>
          </p:cNvSpPr>
          <p:nvPr>
            <p:ph type="dt" sz="half" idx="10"/>
          </p:nvPr>
        </p:nvSpPr>
        <p:spPr/>
        <p:txBody>
          <a:bodyPr/>
          <a:lstStyle/>
          <a:p>
            <a:fld id="{BC59CB55-A43D-CF4D-8B86-D2C70A506C1F}" type="datetimeFigureOut">
              <a:rPr lang="en-DE" smtClean="0"/>
              <a:t>25.07.25</a:t>
            </a:fld>
            <a:endParaRPr lang="en-DE"/>
          </a:p>
        </p:txBody>
      </p:sp>
      <p:sp>
        <p:nvSpPr>
          <p:cNvPr id="8" name="Footer Placeholder 7">
            <a:extLst>
              <a:ext uri="{FF2B5EF4-FFF2-40B4-BE49-F238E27FC236}">
                <a16:creationId xmlns:a16="http://schemas.microsoft.com/office/drawing/2014/main" id="{CC9208C6-B4D8-6D7A-79C4-E5D16E56C093}"/>
              </a:ext>
            </a:extLst>
          </p:cNvPr>
          <p:cNvSpPr>
            <a:spLocks noGrp="1"/>
          </p:cNvSpPr>
          <p:nvPr>
            <p:ph type="ftr" sz="quarter" idx="11"/>
          </p:nvPr>
        </p:nvSpPr>
        <p:spPr/>
        <p:txBody>
          <a:bodyPr/>
          <a:lstStyle/>
          <a:p>
            <a:endParaRPr lang="en-DE"/>
          </a:p>
        </p:txBody>
      </p:sp>
      <p:sp>
        <p:nvSpPr>
          <p:cNvPr id="9" name="Slide Number Placeholder 8">
            <a:extLst>
              <a:ext uri="{FF2B5EF4-FFF2-40B4-BE49-F238E27FC236}">
                <a16:creationId xmlns:a16="http://schemas.microsoft.com/office/drawing/2014/main" id="{DCBA2AA7-8094-EBB6-4FC0-AB5E7DA14799}"/>
              </a:ext>
            </a:extLst>
          </p:cNvPr>
          <p:cNvSpPr>
            <a:spLocks noGrp="1"/>
          </p:cNvSpPr>
          <p:nvPr>
            <p:ph type="sldNum" sz="quarter" idx="12"/>
          </p:nvPr>
        </p:nvSpPr>
        <p:spPr/>
        <p:txBody>
          <a:bodyPr/>
          <a:lstStyle/>
          <a:p>
            <a:fld id="{A02B11A2-14D9-2B47-9F46-CCAD400A8678}" type="slidenum">
              <a:rPr lang="en-DE" smtClean="0"/>
              <a:t>‹#›</a:t>
            </a:fld>
            <a:endParaRPr lang="en-DE"/>
          </a:p>
        </p:txBody>
      </p:sp>
    </p:spTree>
    <p:extLst>
      <p:ext uri="{BB962C8B-B14F-4D97-AF65-F5344CB8AC3E}">
        <p14:creationId xmlns:p14="http://schemas.microsoft.com/office/powerpoint/2010/main" val="3870780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DEDA0-185F-B4AA-E458-DEB34AF9480A}"/>
              </a:ext>
            </a:extLst>
          </p:cNvPr>
          <p:cNvSpPr>
            <a:spLocks noGrp="1"/>
          </p:cNvSpPr>
          <p:nvPr>
            <p:ph type="title"/>
          </p:nvPr>
        </p:nvSpPr>
        <p:spPr/>
        <p:txBody>
          <a:bodyPr/>
          <a:lstStyle/>
          <a:p>
            <a:r>
              <a:rPr lang="en-GB"/>
              <a:t>Click to edit Master title style</a:t>
            </a:r>
            <a:endParaRPr lang="en-DE"/>
          </a:p>
        </p:txBody>
      </p:sp>
      <p:sp>
        <p:nvSpPr>
          <p:cNvPr id="3" name="Date Placeholder 2">
            <a:extLst>
              <a:ext uri="{FF2B5EF4-FFF2-40B4-BE49-F238E27FC236}">
                <a16:creationId xmlns:a16="http://schemas.microsoft.com/office/drawing/2014/main" id="{5BAA367A-5CF5-8F4B-C374-BB8C74DDA6BC}"/>
              </a:ext>
            </a:extLst>
          </p:cNvPr>
          <p:cNvSpPr>
            <a:spLocks noGrp="1"/>
          </p:cNvSpPr>
          <p:nvPr>
            <p:ph type="dt" sz="half" idx="10"/>
          </p:nvPr>
        </p:nvSpPr>
        <p:spPr/>
        <p:txBody>
          <a:bodyPr/>
          <a:lstStyle/>
          <a:p>
            <a:fld id="{BC59CB55-A43D-CF4D-8B86-D2C70A506C1F}" type="datetimeFigureOut">
              <a:rPr lang="en-DE" smtClean="0"/>
              <a:t>25.07.25</a:t>
            </a:fld>
            <a:endParaRPr lang="en-DE"/>
          </a:p>
        </p:txBody>
      </p:sp>
      <p:sp>
        <p:nvSpPr>
          <p:cNvPr id="4" name="Footer Placeholder 3">
            <a:extLst>
              <a:ext uri="{FF2B5EF4-FFF2-40B4-BE49-F238E27FC236}">
                <a16:creationId xmlns:a16="http://schemas.microsoft.com/office/drawing/2014/main" id="{0A80F30C-EA76-49D7-A919-76C8CF4D8785}"/>
              </a:ext>
            </a:extLst>
          </p:cNvPr>
          <p:cNvSpPr>
            <a:spLocks noGrp="1"/>
          </p:cNvSpPr>
          <p:nvPr>
            <p:ph type="ftr" sz="quarter" idx="11"/>
          </p:nvPr>
        </p:nvSpPr>
        <p:spPr/>
        <p:txBody>
          <a:bodyPr/>
          <a:lstStyle/>
          <a:p>
            <a:endParaRPr lang="en-DE"/>
          </a:p>
        </p:txBody>
      </p:sp>
      <p:sp>
        <p:nvSpPr>
          <p:cNvPr id="5" name="Slide Number Placeholder 4">
            <a:extLst>
              <a:ext uri="{FF2B5EF4-FFF2-40B4-BE49-F238E27FC236}">
                <a16:creationId xmlns:a16="http://schemas.microsoft.com/office/drawing/2014/main" id="{401E4567-EF12-2237-4D44-2298DF37A26E}"/>
              </a:ext>
            </a:extLst>
          </p:cNvPr>
          <p:cNvSpPr>
            <a:spLocks noGrp="1"/>
          </p:cNvSpPr>
          <p:nvPr>
            <p:ph type="sldNum" sz="quarter" idx="12"/>
          </p:nvPr>
        </p:nvSpPr>
        <p:spPr/>
        <p:txBody>
          <a:bodyPr/>
          <a:lstStyle/>
          <a:p>
            <a:fld id="{A02B11A2-14D9-2B47-9F46-CCAD400A8678}" type="slidenum">
              <a:rPr lang="en-DE" smtClean="0"/>
              <a:t>‹#›</a:t>
            </a:fld>
            <a:endParaRPr lang="en-DE"/>
          </a:p>
        </p:txBody>
      </p:sp>
    </p:spTree>
    <p:extLst>
      <p:ext uri="{BB962C8B-B14F-4D97-AF65-F5344CB8AC3E}">
        <p14:creationId xmlns:p14="http://schemas.microsoft.com/office/powerpoint/2010/main" val="2355668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AC5649-9B33-0F10-E0FE-2A31074F3E23}"/>
              </a:ext>
            </a:extLst>
          </p:cNvPr>
          <p:cNvSpPr>
            <a:spLocks noGrp="1"/>
          </p:cNvSpPr>
          <p:nvPr>
            <p:ph type="dt" sz="half" idx="10"/>
          </p:nvPr>
        </p:nvSpPr>
        <p:spPr/>
        <p:txBody>
          <a:bodyPr/>
          <a:lstStyle/>
          <a:p>
            <a:fld id="{BC59CB55-A43D-CF4D-8B86-D2C70A506C1F}" type="datetimeFigureOut">
              <a:rPr lang="en-DE" smtClean="0"/>
              <a:t>25.07.25</a:t>
            </a:fld>
            <a:endParaRPr lang="en-DE"/>
          </a:p>
        </p:txBody>
      </p:sp>
      <p:sp>
        <p:nvSpPr>
          <p:cNvPr id="3" name="Footer Placeholder 2">
            <a:extLst>
              <a:ext uri="{FF2B5EF4-FFF2-40B4-BE49-F238E27FC236}">
                <a16:creationId xmlns:a16="http://schemas.microsoft.com/office/drawing/2014/main" id="{CEEB30ED-6848-50A1-BC09-109C8A827347}"/>
              </a:ext>
            </a:extLst>
          </p:cNvPr>
          <p:cNvSpPr>
            <a:spLocks noGrp="1"/>
          </p:cNvSpPr>
          <p:nvPr>
            <p:ph type="ftr" sz="quarter" idx="11"/>
          </p:nvPr>
        </p:nvSpPr>
        <p:spPr/>
        <p:txBody>
          <a:bodyPr/>
          <a:lstStyle/>
          <a:p>
            <a:endParaRPr lang="en-DE"/>
          </a:p>
        </p:txBody>
      </p:sp>
      <p:sp>
        <p:nvSpPr>
          <p:cNvPr id="4" name="Slide Number Placeholder 3">
            <a:extLst>
              <a:ext uri="{FF2B5EF4-FFF2-40B4-BE49-F238E27FC236}">
                <a16:creationId xmlns:a16="http://schemas.microsoft.com/office/drawing/2014/main" id="{64A826D6-EF60-4196-8736-95A9E977F9DE}"/>
              </a:ext>
            </a:extLst>
          </p:cNvPr>
          <p:cNvSpPr>
            <a:spLocks noGrp="1"/>
          </p:cNvSpPr>
          <p:nvPr>
            <p:ph type="sldNum" sz="quarter" idx="12"/>
          </p:nvPr>
        </p:nvSpPr>
        <p:spPr/>
        <p:txBody>
          <a:bodyPr/>
          <a:lstStyle/>
          <a:p>
            <a:fld id="{A02B11A2-14D9-2B47-9F46-CCAD400A8678}" type="slidenum">
              <a:rPr lang="en-DE" smtClean="0"/>
              <a:t>‹#›</a:t>
            </a:fld>
            <a:endParaRPr lang="en-DE"/>
          </a:p>
        </p:txBody>
      </p:sp>
    </p:spTree>
    <p:extLst>
      <p:ext uri="{BB962C8B-B14F-4D97-AF65-F5344CB8AC3E}">
        <p14:creationId xmlns:p14="http://schemas.microsoft.com/office/powerpoint/2010/main" val="2513901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1DD3-1F05-C6A8-F661-351F344E2DE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Content Placeholder 2">
            <a:extLst>
              <a:ext uri="{FF2B5EF4-FFF2-40B4-BE49-F238E27FC236}">
                <a16:creationId xmlns:a16="http://schemas.microsoft.com/office/drawing/2014/main" id="{1BF0DB35-ED55-C254-BD03-9A1CE65337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Text Placeholder 3">
            <a:extLst>
              <a:ext uri="{FF2B5EF4-FFF2-40B4-BE49-F238E27FC236}">
                <a16:creationId xmlns:a16="http://schemas.microsoft.com/office/drawing/2014/main" id="{6B8FA5E5-15DA-0BD3-5BEF-209508C18D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B1511E1-4191-0C3D-2C44-DE3E02E08191}"/>
              </a:ext>
            </a:extLst>
          </p:cNvPr>
          <p:cNvSpPr>
            <a:spLocks noGrp="1"/>
          </p:cNvSpPr>
          <p:nvPr>
            <p:ph type="dt" sz="half" idx="10"/>
          </p:nvPr>
        </p:nvSpPr>
        <p:spPr/>
        <p:txBody>
          <a:bodyPr/>
          <a:lstStyle/>
          <a:p>
            <a:fld id="{BC59CB55-A43D-CF4D-8B86-D2C70A506C1F}" type="datetimeFigureOut">
              <a:rPr lang="en-DE" smtClean="0"/>
              <a:t>25.07.25</a:t>
            </a:fld>
            <a:endParaRPr lang="en-DE"/>
          </a:p>
        </p:txBody>
      </p:sp>
      <p:sp>
        <p:nvSpPr>
          <p:cNvPr id="6" name="Footer Placeholder 5">
            <a:extLst>
              <a:ext uri="{FF2B5EF4-FFF2-40B4-BE49-F238E27FC236}">
                <a16:creationId xmlns:a16="http://schemas.microsoft.com/office/drawing/2014/main" id="{D589A4E3-B04B-CEDA-A2AF-5D309975B703}"/>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25E9C566-A374-B7C1-114B-344516C9E4C4}"/>
              </a:ext>
            </a:extLst>
          </p:cNvPr>
          <p:cNvSpPr>
            <a:spLocks noGrp="1"/>
          </p:cNvSpPr>
          <p:nvPr>
            <p:ph type="sldNum" sz="quarter" idx="12"/>
          </p:nvPr>
        </p:nvSpPr>
        <p:spPr/>
        <p:txBody>
          <a:bodyPr/>
          <a:lstStyle/>
          <a:p>
            <a:fld id="{A02B11A2-14D9-2B47-9F46-CCAD400A8678}" type="slidenum">
              <a:rPr lang="en-DE" smtClean="0"/>
              <a:t>‹#›</a:t>
            </a:fld>
            <a:endParaRPr lang="en-DE"/>
          </a:p>
        </p:txBody>
      </p:sp>
    </p:spTree>
    <p:extLst>
      <p:ext uri="{BB962C8B-B14F-4D97-AF65-F5344CB8AC3E}">
        <p14:creationId xmlns:p14="http://schemas.microsoft.com/office/powerpoint/2010/main" val="921228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4297B-7BFF-284C-80E7-D468C44F9FC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Picture Placeholder 2">
            <a:extLst>
              <a:ext uri="{FF2B5EF4-FFF2-40B4-BE49-F238E27FC236}">
                <a16:creationId xmlns:a16="http://schemas.microsoft.com/office/drawing/2014/main" id="{DC29AB85-A5DF-D9E0-1D21-C0CFB70ABE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79DA8965-5BAF-357E-0FA4-76DB64257D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29F2B72-F022-E85B-A395-5D8CC32F09C6}"/>
              </a:ext>
            </a:extLst>
          </p:cNvPr>
          <p:cNvSpPr>
            <a:spLocks noGrp="1"/>
          </p:cNvSpPr>
          <p:nvPr>
            <p:ph type="dt" sz="half" idx="10"/>
          </p:nvPr>
        </p:nvSpPr>
        <p:spPr/>
        <p:txBody>
          <a:bodyPr/>
          <a:lstStyle/>
          <a:p>
            <a:fld id="{BC59CB55-A43D-CF4D-8B86-D2C70A506C1F}" type="datetimeFigureOut">
              <a:rPr lang="en-DE" smtClean="0"/>
              <a:t>25.07.25</a:t>
            </a:fld>
            <a:endParaRPr lang="en-DE"/>
          </a:p>
        </p:txBody>
      </p:sp>
      <p:sp>
        <p:nvSpPr>
          <p:cNvPr id="6" name="Footer Placeholder 5">
            <a:extLst>
              <a:ext uri="{FF2B5EF4-FFF2-40B4-BE49-F238E27FC236}">
                <a16:creationId xmlns:a16="http://schemas.microsoft.com/office/drawing/2014/main" id="{8F000F47-B449-FFDF-3DC0-458613D03480}"/>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E2F69C0A-8A4C-4690-80D1-16B6B92AEFA7}"/>
              </a:ext>
            </a:extLst>
          </p:cNvPr>
          <p:cNvSpPr>
            <a:spLocks noGrp="1"/>
          </p:cNvSpPr>
          <p:nvPr>
            <p:ph type="sldNum" sz="quarter" idx="12"/>
          </p:nvPr>
        </p:nvSpPr>
        <p:spPr/>
        <p:txBody>
          <a:bodyPr/>
          <a:lstStyle/>
          <a:p>
            <a:fld id="{A02B11A2-14D9-2B47-9F46-CCAD400A8678}" type="slidenum">
              <a:rPr lang="en-DE" smtClean="0"/>
              <a:t>‹#›</a:t>
            </a:fld>
            <a:endParaRPr lang="en-DE"/>
          </a:p>
        </p:txBody>
      </p:sp>
    </p:spTree>
    <p:extLst>
      <p:ext uri="{BB962C8B-B14F-4D97-AF65-F5344CB8AC3E}">
        <p14:creationId xmlns:p14="http://schemas.microsoft.com/office/powerpoint/2010/main" val="303509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C27AD-AB99-33B5-031B-369D05DC128B}"/>
              </a:ext>
            </a:extLst>
          </p:cNvPr>
          <p:cNvSpPr>
            <a:spLocks noGrp="1"/>
          </p:cNvSpPr>
          <p:nvPr>
            <p:ph type="title"/>
          </p:nvPr>
        </p:nvSpPr>
        <p:spPr/>
        <p:txBody>
          <a:bodyPr/>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9DBEB7F4-4ADF-66A8-1EF3-6BA063B299A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8DDB34E9-EAC7-F1C8-C154-50603753FFC9}"/>
              </a:ext>
            </a:extLst>
          </p:cNvPr>
          <p:cNvSpPr>
            <a:spLocks noGrp="1"/>
          </p:cNvSpPr>
          <p:nvPr>
            <p:ph type="dt" sz="half" idx="10"/>
          </p:nvPr>
        </p:nvSpPr>
        <p:spPr/>
        <p:txBody>
          <a:bodyPr/>
          <a:lstStyle/>
          <a:p>
            <a:fld id="{BC59CB55-A43D-CF4D-8B86-D2C70A506C1F}" type="datetimeFigureOut">
              <a:rPr lang="en-DE" smtClean="0"/>
              <a:t>25.07.25</a:t>
            </a:fld>
            <a:endParaRPr lang="en-DE"/>
          </a:p>
        </p:txBody>
      </p:sp>
      <p:sp>
        <p:nvSpPr>
          <p:cNvPr id="5" name="Footer Placeholder 4">
            <a:extLst>
              <a:ext uri="{FF2B5EF4-FFF2-40B4-BE49-F238E27FC236}">
                <a16:creationId xmlns:a16="http://schemas.microsoft.com/office/drawing/2014/main" id="{47E93BE3-1C01-45FA-9B4C-A360846DC943}"/>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0F7EAEE7-6D62-CB6D-A88A-ABE86D5907A1}"/>
              </a:ext>
            </a:extLst>
          </p:cNvPr>
          <p:cNvSpPr>
            <a:spLocks noGrp="1"/>
          </p:cNvSpPr>
          <p:nvPr>
            <p:ph type="sldNum" sz="quarter" idx="12"/>
          </p:nvPr>
        </p:nvSpPr>
        <p:spPr/>
        <p:txBody>
          <a:bodyPr/>
          <a:lstStyle/>
          <a:p>
            <a:fld id="{A02B11A2-14D9-2B47-9F46-CCAD400A8678}" type="slidenum">
              <a:rPr lang="en-DE" smtClean="0"/>
              <a:t>‹#›</a:t>
            </a:fld>
            <a:endParaRPr lang="en-DE"/>
          </a:p>
        </p:txBody>
      </p:sp>
    </p:spTree>
    <p:extLst>
      <p:ext uri="{BB962C8B-B14F-4D97-AF65-F5344CB8AC3E}">
        <p14:creationId xmlns:p14="http://schemas.microsoft.com/office/powerpoint/2010/main" val="1851091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5FD05C-0E5B-DC8D-8B91-908052A2C79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2AE2280C-DFA6-37EB-DC18-B76A57F7CA8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9B3B6367-5532-AFB3-EA49-CA7AEDE6690F}"/>
              </a:ext>
            </a:extLst>
          </p:cNvPr>
          <p:cNvSpPr>
            <a:spLocks noGrp="1"/>
          </p:cNvSpPr>
          <p:nvPr>
            <p:ph type="dt" sz="half" idx="10"/>
          </p:nvPr>
        </p:nvSpPr>
        <p:spPr/>
        <p:txBody>
          <a:bodyPr/>
          <a:lstStyle/>
          <a:p>
            <a:fld id="{BC59CB55-A43D-CF4D-8B86-D2C70A506C1F}" type="datetimeFigureOut">
              <a:rPr lang="en-DE" smtClean="0"/>
              <a:t>25.07.25</a:t>
            </a:fld>
            <a:endParaRPr lang="en-DE"/>
          </a:p>
        </p:txBody>
      </p:sp>
      <p:sp>
        <p:nvSpPr>
          <p:cNvPr id="5" name="Footer Placeholder 4">
            <a:extLst>
              <a:ext uri="{FF2B5EF4-FFF2-40B4-BE49-F238E27FC236}">
                <a16:creationId xmlns:a16="http://schemas.microsoft.com/office/drawing/2014/main" id="{4BB8CA92-34F1-503D-CABF-29A18046A257}"/>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77F46E3B-4B92-7E40-822E-75459D37A533}"/>
              </a:ext>
            </a:extLst>
          </p:cNvPr>
          <p:cNvSpPr>
            <a:spLocks noGrp="1"/>
          </p:cNvSpPr>
          <p:nvPr>
            <p:ph type="sldNum" sz="quarter" idx="12"/>
          </p:nvPr>
        </p:nvSpPr>
        <p:spPr/>
        <p:txBody>
          <a:bodyPr/>
          <a:lstStyle/>
          <a:p>
            <a:fld id="{A02B11A2-14D9-2B47-9F46-CCAD400A8678}" type="slidenum">
              <a:rPr lang="en-DE" smtClean="0"/>
              <a:t>‹#›</a:t>
            </a:fld>
            <a:endParaRPr lang="en-DE"/>
          </a:p>
        </p:txBody>
      </p:sp>
    </p:spTree>
    <p:extLst>
      <p:ext uri="{BB962C8B-B14F-4D97-AF65-F5344CB8AC3E}">
        <p14:creationId xmlns:p14="http://schemas.microsoft.com/office/powerpoint/2010/main" val="927333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F538CD-59A4-EF73-17E3-320ECA2736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DE"/>
          </a:p>
        </p:txBody>
      </p:sp>
      <p:sp>
        <p:nvSpPr>
          <p:cNvPr id="3" name="Text Placeholder 2">
            <a:extLst>
              <a:ext uri="{FF2B5EF4-FFF2-40B4-BE49-F238E27FC236}">
                <a16:creationId xmlns:a16="http://schemas.microsoft.com/office/drawing/2014/main" id="{EA641864-7D35-051D-D474-3C4BDC7670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E79498C6-4406-A66F-7363-595EC58A4C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59CB55-A43D-CF4D-8B86-D2C70A506C1F}" type="datetimeFigureOut">
              <a:rPr lang="en-DE" smtClean="0"/>
              <a:t>25.07.25</a:t>
            </a:fld>
            <a:endParaRPr lang="en-DE"/>
          </a:p>
        </p:txBody>
      </p:sp>
      <p:sp>
        <p:nvSpPr>
          <p:cNvPr id="5" name="Footer Placeholder 4">
            <a:extLst>
              <a:ext uri="{FF2B5EF4-FFF2-40B4-BE49-F238E27FC236}">
                <a16:creationId xmlns:a16="http://schemas.microsoft.com/office/drawing/2014/main" id="{79E759E1-4C05-ADA6-2360-3F7AF6FC0D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E"/>
          </a:p>
        </p:txBody>
      </p:sp>
      <p:sp>
        <p:nvSpPr>
          <p:cNvPr id="6" name="Slide Number Placeholder 5">
            <a:extLst>
              <a:ext uri="{FF2B5EF4-FFF2-40B4-BE49-F238E27FC236}">
                <a16:creationId xmlns:a16="http://schemas.microsoft.com/office/drawing/2014/main" id="{0D185ACB-355B-21E0-EB5B-3A2A7EAD80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2B11A2-14D9-2B47-9F46-CCAD400A8678}" type="slidenum">
              <a:rPr lang="en-DE" smtClean="0"/>
              <a:t>‹#›</a:t>
            </a:fld>
            <a:endParaRPr lang="en-DE"/>
          </a:p>
        </p:txBody>
      </p:sp>
    </p:spTree>
    <p:extLst>
      <p:ext uri="{BB962C8B-B14F-4D97-AF65-F5344CB8AC3E}">
        <p14:creationId xmlns:p14="http://schemas.microsoft.com/office/powerpoint/2010/main" val="29343471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DA16-8B04-F212-C91B-084D996C363B}"/>
              </a:ext>
            </a:extLst>
          </p:cNvPr>
          <p:cNvSpPr>
            <a:spLocks noGrp="1"/>
          </p:cNvSpPr>
          <p:nvPr>
            <p:ph type="ctrTitle"/>
          </p:nvPr>
        </p:nvSpPr>
        <p:spPr/>
        <p:txBody>
          <a:bodyPr/>
          <a:lstStyle/>
          <a:p>
            <a:r>
              <a:rPr lang="en-DE" dirty="0"/>
              <a:t>CRC 1644 - Z2 Progress</a:t>
            </a:r>
          </a:p>
        </p:txBody>
      </p:sp>
      <p:sp>
        <p:nvSpPr>
          <p:cNvPr id="3" name="Subtitle 2">
            <a:extLst>
              <a:ext uri="{FF2B5EF4-FFF2-40B4-BE49-F238E27FC236}">
                <a16:creationId xmlns:a16="http://schemas.microsoft.com/office/drawing/2014/main" id="{DBB18B45-FDD9-2884-5D56-9C38424928A1}"/>
              </a:ext>
            </a:extLst>
          </p:cNvPr>
          <p:cNvSpPr>
            <a:spLocks noGrp="1"/>
          </p:cNvSpPr>
          <p:nvPr>
            <p:ph type="subTitle" idx="1"/>
          </p:nvPr>
        </p:nvSpPr>
        <p:spPr/>
        <p:txBody>
          <a:bodyPr/>
          <a:lstStyle/>
          <a:p>
            <a:endParaRPr lang="en-DE" dirty="0"/>
          </a:p>
          <a:p>
            <a:r>
              <a:rPr lang="en-DE" dirty="0"/>
              <a:t>Prof. Dr. Zoran Nikoloski </a:t>
            </a:r>
          </a:p>
          <a:p>
            <a:r>
              <a:rPr lang="en-DE" sz="1600" dirty="0"/>
              <a:t>Student worker: Benedikt Haarscheidt</a:t>
            </a:r>
          </a:p>
        </p:txBody>
      </p:sp>
    </p:spTree>
    <p:extLst>
      <p:ext uri="{BB962C8B-B14F-4D97-AF65-F5344CB8AC3E}">
        <p14:creationId xmlns:p14="http://schemas.microsoft.com/office/powerpoint/2010/main" val="2456286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189F1-3A8F-1DFB-1B57-F1FB85CFDDC1}"/>
              </a:ext>
            </a:extLst>
          </p:cNvPr>
          <p:cNvSpPr>
            <a:spLocks noGrp="1"/>
          </p:cNvSpPr>
          <p:nvPr>
            <p:ph type="title"/>
          </p:nvPr>
        </p:nvSpPr>
        <p:spPr/>
        <p:txBody>
          <a:bodyPr/>
          <a:lstStyle/>
          <a:p>
            <a:r>
              <a:rPr lang="en-DE" dirty="0"/>
              <a:t>Data Synthesis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7DD063D-35DC-E8EC-FDE4-621334AE39AB}"/>
                  </a:ext>
                </a:extLst>
              </p:cNvPr>
              <p:cNvSpPr>
                <a:spLocks noGrp="1"/>
              </p:cNvSpPr>
              <p:nvPr>
                <p:ph idx="1"/>
              </p:nvPr>
            </p:nvSpPr>
            <p:spPr>
              <a:xfrm>
                <a:off x="147734" y="1847850"/>
                <a:ext cx="12317963" cy="4351338"/>
              </a:xfrm>
            </p:spPr>
            <p:txBody>
              <a:bodyPr>
                <a:normAutofit/>
              </a:bodyPr>
              <a:lstStyle/>
              <a:p>
                <a:r>
                  <a:rPr lang="en-GB" sz="2000" dirty="0"/>
                  <a:t>G</a:t>
                </a:r>
                <a:r>
                  <a:rPr lang="en-DE" sz="2000" dirty="0"/>
                  <a:t>enerated reaction norms  (RN) for 80 genotypes in total </a:t>
                </a:r>
              </a:p>
              <a:p>
                <a:r>
                  <a:rPr lang="en-GB" sz="2000" dirty="0"/>
                  <a:t>4 general genotype forms (linear, gaussian, wave, sinusoidal) – 20 genotypes each</a:t>
                </a:r>
              </a:p>
              <a:p>
                <a:pPr marL="457200" lvl="1" indent="0">
                  <a:buNone/>
                </a:pPr>
                <a:r>
                  <a:rPr lang="en-GB" sz="1600" dirty="0"/>
                  <a:t>Linear:	 </a:t>
                </a:r>
                <a14:m>
                  <m:oMath xmlns:m="http://schemas.openxmlformats.org/officeDocument/2006/math">
                    <m:r>
                      <a:rPr lang="de-DE" sz="1600" b="0" i="1" smtClean="0">
                        <a:latin typeface="Cambria Math" panose="02040503050406030204" pitchFamily="18" charset="0"/>
                      </a:rPr>
                      <m:t>𝑦</m:t>
                    </m:r>
                    <m:r>
                      <a:rPr lang="de-DE" sz="1600" b="0" i="1" smtClean="0">
                        <a:latin typeface="Cambria Math" panose="02040503050406030204" pitchFamily="18" charset="0"/>
                      </a:rPr>
                      <m:t>=</m:t>
                    </m:r>
                    <m:r>
                      <a:rPr lang="de-DE" sz="1600" b="0" i="1" smtClean="0">
                        <a:latin typeface="Cambria Math" panose="02040503050406030204" pitchFamily="18" charset="0"/>
                      </a:rPr>
                      <m:t>𝑏</m:t>
                    </m:r>
                    <m:r>
                      <a:rPr lang="de-DE" sz="1600" b="0" i="1" smtClean="0">
                        <a:latin typeface="Cambria Math" panose="02040503050406030204" pitchFamily="18" charset="0"/>
                      </a:rPr>
                      <m:t>+</m:t>
                    </m:r>
                    <m:r>
                      <a:rPr lang="de-DE" sz="1600" b="0" i="1" smtClean="0">
                        <a:latin typeface="Cambria Math" panose="02040503050406030204" pitchFamily="18" charset="0"/>
                      </a:rPr>
                      <m:t>𝑎</m:t>
                    </m:r>
                    <m:r>
                      <a:rPr lang="de-DE" sz="1600" b="0" i="1" smtClean="0">
                        <a:latin typeface="Cambria Math" panose="02040503050406030204" pitchFamily="18" charset="0"/>
                      </a:rPr>
                      <m:t>∗</m:t>
                    </m:r>
                    <m:r>
                      <a:rPr lang="de-DE" sz="1600" b="0" i="1" smtClean="0">
                        <a:latin typeface="Cambria Math" panose="02040503050406030204" pitchFamily="18" charset="0"/>
                      </a:rPr>
                      <m:t>𝑥</m:t>
                    </m:r>
                    <m:r>
                      <a:rPr lang="de-DE" sz="1600" b="0" i="1" smtClean="0">
                        <a:latin typeface="Cambria Math" panose="02040503050406030204" pitchFamily="18" charset="0"/>
                      </a:rPr>
                      <m:t> </m:t>
                    </m:r>
                  </m:oMath>
                </a14:m>
                <a:r>
                  <a:rPr lang="en-GB" sz="1600" dirty="0"/>
                  <a:t>				 </a:t>
                </a:r>
                <a14:m>
                  <m:oMath xmlns:m="http://schemas.openxmlformats.org/officeDocument/2006/math">
                    <m:r>
                      <a:rPr lang="de-DE" sz="1600" b="0" i="1" dirty="0" smtClean="0">
                        <a:latin typeface="Cambria Math" panose="02040503050406030204" pitchFamily="18" charset="0"/>
                      </a:rPr>
                      <m:t>𝑎</m:t>
                    </m:r>
                    <m:r>
                      <a:rPr lang="de-DE" sz="1600" i="1" dirty="0">
                        <a:latin typeface="Cambria Math" panose="02040503050406030204" pitchFamily="18" charset="0"/>
                      </a:rPr>
                      <m:t>~</m:t>
                    </m:r>
                    <m:r>
                      <a:rPr lang="de-DE" sz="1600" b="0" i="1" dirty="0" smtClean="0">
                        <a:latin typeface="Cambria Math" panose="02040503050406030204" pitchFamily="18" charset="0"/>
                      </a:rPr>
                      <m:t>𝑈</m:t>
                    </m:r>
                    <m:r>
                      <a:rPr lang="de-DE" sz="1600" i="1" dirty="0">
                        <a:latin typeface="Cambria Math" panose="02040503050406030204" pitchFamily="18" charset="0"/>
                        <a:ea typeface="Cambria Math" panose="02040503050406030204" pitchFamily="18" charset="0"/>
                      </a:rPr>
                      <m:t>(−1,1</m:t>
                    </m:r>
                    <m:r>
                      <a:rPr lang="de-DE" sz="1600" b="0" i="0" dirty="0" smtClean="0">
                        <a:latin typeface="Cambria Math" panose="02040503050406030204" pitchFamily="18" charset="0"/>
                        <a:ea typeface="Cambria Math" panose="02040503050406030204" pitchFamily="18" charset="0"/>
                      </a:rPr>
                      <m:t>), </m:t>
                    </m:r>
                    <m:r>
                      <a:rPr lang="de-DE" sz="1600" b="0" i="1" dirty="0" smtClean="0">
                        <a:latin typeface="Cambria Math" panose="02040503050406030204" pitchFamily="18" charset="0"/>
                        <a:ea typeface="Cambria Math" panose="02040503050406030204" pitchFamily="18" charset="0"/>
                      </a:rPr>
                      <m:t> </m:t>
                    </m:r>
                    <m:r>
                      <a:rPr lang="de-DE" sz="1600" b="0" i="1" smtClean="0">
                        <a:latin typeface="Cambria Math" panose="02040503050406030204" pitchFamily="18" charset="0"/>
                      </a:rPr>
                      <m:t>𝑏</m:t>
                    </m:r>
                    <m:r>
                      <a:rPr lang="de-DE" sz="1600" i="1">
                        <a:latin typeface="Cambria Math" panose="02040503050406030204" pitchFamily="18" charset="0"/>
                      </a:rPr>
                      <m:t>~</m:t>
                    </m:r>
                    <m:r>
                      <a:rPr lang="de-DE" sz="1600" b="0" i="1" smtClean="0">
                        <a:latin typeface="Cambria Math" panose="02040503050406030204" pitchFamily="18" charset="0"/>
                      </a:rPr>
                      <m:t>𝑈</m:t>
                    </m:r>
                    <m:r>
                      <a:rPr lang="de-DE" sz="1600" b="0" i="1" smtClean="0">
                        <a:latin typeface="Cambria Math" panose="02040503050406030204" pitchFamily="18" charset="0"/>
                      </a:rPr>
                      <m:t>(5,30)</m:t>
                    </m:r>
                    <m:r>
                      <a:rPr lang="de-DE" sz="1600" b="0" i="0" smtClean="0">
                        <a:latin typeface="Cambria Math" panose="02040503050406030204" pitchFamily="18" charset="0"/>
                        <a:ea typeface="Cambria Math" panose="02040503050406030204" pitchFamily="18" charset="0"/>
                      </a:rPr>
                      <m:t>,</m:t>
                    </m:r>
                    <m:r>
                      <a:rPr lang="de-DE" sz="1600" b="0" i="1" smtClean="0">
                        <a:latin typeface="Cambria Math" panose="02040503050406030204" pitchFamily="18" charset="0"/>
                        <a:ea typeface="Cambria Math" panose="02040503050406030204" pitchFamily="18" charset="0"/>
                      </a:rPr>
                      <m:t>  </m:t>
                    </m:r>
                    <m:r>
                      <a:rPr lang="de-DE" sz="1600" b="0" i="1" smtClean="0">
                        <a:latin typeface="Cambria Math" panose="02040503050406030204" pitchFamily="18" charset="0"/>
                      </a:rPr>
                      <m:t>𝑥</m:t>
                    </m:r>
                    <m:r>
                      <a:rPr lang="de-DE" sz="1600" i="1" dirty="0">
                        <a:latin typeface="Cambria Math" panose="02040503050406030204" pitchFamily="18" charset="0"/>
                      </a:rPr>
                      <m:t>~</m:t>
                    </m:r>
                    <m:r>
                      <a:rPr lang="de-DE" sz="1600" b="0" i="1" dirty="0" smtClean="0">
                        <a:latin typeface="Cambria Math" panose="02040503050406030204" pitchFamily="18" charset="0"/>
                      </a:rPr>
                      <m:t>𝑈</m:t>
                    </m:r>
                    <m:r>
                      <a:rPr lang="de-DE" sz="1600" b="0" i="1" dirty="0" smtClean="0">
                        <a:latin typeface="Cambria Math" panose="02040503050406030204" pitchFamily="18" charset="0"/>
                      </a:rPr>
                      <m:t>(1,10)</m:t>
                    </m:r>
                  </m:oMath>
                </a14:m>
                <a:endParaRPr lang="en-GB" sz="1600" dirty="0"/>
              </a:p>
              <a:p>
                <a:pPr marL="457200" lvl="1" indent="0">
                  <a:buNone/>
                </a:pPr>
                <a:r>
                  <a:rPr lang="en-GB" sz="1600" dirty="0"/>
                  <a:t>Gaussian:	 </a:t>
                </a:r>
                <a14:m>
                  <m:oMath xmlns:m="http://schemas.openxmlformats.org/officeDocument/2006/math">
                    <m:r>
                      <a:rPr lang="de-DE" sz="1600" b="0" i="1" smtClean="0">
                        <a:latin typeface="Cambria Math" panose="02040503050406030204" pitchFamily="18" charset="0"/>
                      </a:rPr>
                      <m:t>𝑦</m:t>
                    </m:r>
                    <m:r>
                      <a:rPr lang="de-DE" sz="1600" b="0" i="1" smtClean="0">
                        <a:latin typeface="Cambria Math" panose="02040503050406030204" pitchFamily="18" charset="0"/>
                      </a:rPr>
                      <m:t>=</m:t>
                    </m:r>
                    <m:r>
                      <a:rPr lang="de-DE" sz="1600" b="0" i="1" smtClean="0">
                        <a:latin typeface="Cambria Math" panose="02040503050406030204" pitchFamily="18" charset="0"/>
                      </a:rPr>
                      <m:t>𝑏</m:t>
                    </m:r>
                    <m:r>
                      <a:rPr lang="de-DE" sz="1600" b="0" i="1" smtClean="0">
                        <a:latin typeface="Cambria Math" panose="02040503050406030204" pitchFamily="18" charset="0"/>
                      </a:rPr>
                      <m:t>+4</m:t>
                    </m:r>
                    <m:r>
                      <a:rPr lang="de-DE" sz="1600" b="0" i="1" smtClean="0">
                        <a:latin typeface="Cambria Math" panose="02040503050406030204" pitchFamily="18" charset="0"/>
                      </a:rPr>
                      <m:t>𝑎</m:t>
                    </m:r>
                    <m:r>
                      <a:rPr lang="de-DE" sz="1600" b="0" i="1" smtClean="0">
                        <a:latin typeface="Cambria Math" panose="02040503050406030204" pitchFamily="18" charset="0"/>
                      </a:rPr>
                      <m:t>∗</m:t>
                    </m:r>
                    <m:sSup>
                      <m:sSupPr>
                        <m:ctrlPr>
                          <a:rPr lang="de-DE" sz="1600" b="0" i="1" smtClean="0">
                            <a:latin typeface="Cambria Math" panose="02040503050406030204" pitchFamily="18" charset="0"/>
                          </a:rPr>
                        </m:ctrlPr>
                      </m:sSupPr>
                      <m:e>
                        <m:r>
                          <a:rPr lang="de-DE" sz="1600" b="0" i="1" smtClean="0">
                            <a:latin typeface="Cambria Math" panose="02040503050406030204" pitchFamily="18" charset="0"/>
                          </a:rPr>
                          <m:t>𝑒</m:t>
                        </m:r>
                      </m:e>
                      <m:sup>
                        <m:sSup>
                          <m:sSupPr>
                            <m:ctrlPr>
                              <a:rPr lang="de-DE" sz="1600" b="0" i="1" smtClean="0">
                                <a:latin typeface="Cambria Math" panose="02040503050406030204" pitchFamily="18" charset="0"/>
                              </a:rPr>
                            </m:ctrlPr>
                          </m:sSupPr>
                          <m:e>
                            <m:r>
                              <a:rPr lang="de-DE" sz="1600" i="1">
                                <a:latin typeface="Cambria Math" panose="02040503050406030204" pitchFamily="18" charset="0"/>
                              </a:rPr>
                              <m:t>(−0.2∗</m:t>
                            </m:r>
                            <m:d>
                              <m:dPr>
                                <m:ctrlPr>
                                  <a:rPr lang="de-DE" sz="1600" i="1">
                                    <a:latin typeface="Cambria Math" panose="02040503050406030204" pitchFamily="18" charset="0"/>
                                  </a:rPr>
                                </m:ctrlPr>
                              </m:dPr>
                              <m:e>
                                <m:r>
                                  <a:rPr lang="de-DE" sz="1600" i="1">
                                    <a:latin typeface="Cambria Math" panose="02040503050406030204" pitchFamily="18" charset="0"/>
                                  </a:rPr>
                                  <m:t>𝑥</m:t>
                                </m:r>
                                <m:r>
                                  <a:rPr lang="de-DE" sz="1600" i="1">
                                    <a:latin typeface="Cambria Math" panose="02040503050406030204" pitchFamily="18" charset="0"/>
                                  </a:rPr>
                                  <m:t>−5</m:t>
                                </m:r>
                              </m:e>
                            </m:d>
                          </m:e>
                          <m:sup>
                            <m:r>
                              <a:rPr lang="de-DE" sz="1600" b="0" i="1" smtClean="0">
                                <a:latin typeface="Cambria Math" panose="02040503050406030204" pitchFamily="18" charset="0"/>
                              </a:rPr>
                              <m:t>2</m:t>
                            </m:r>
                          </m:sup>
                        </m:sSup>
                        <m:r>
                          <a:rPr lang="de-DE" sz="1600" b="0" i="1" smtClean="0">
                            <a:latin typeface="Cambria Math" panose="02040503050406030204" pitchFamily="18" charset="0"/>
                          </a:rPr>
                          <m:t>)</m:t>
                        </m:r>
                      </m:sup>
                    </m:sSup>
                  </m:oMath>
                </a14:m>
                <a:r>
                  <a:rPr lang="en-GB" sz="1600" dirty="0"/>
                  <a:t>	</a:t>
                </a:r>
              </a:p>
              <a:p>
                <a:pPr marL="457200" lvl="1" indent="0">
                  <a:buNone/>
                </a:pPr>
                <a:r>
                  <a:rPr lang="en-GB" sz="1600" dirty="0"/>
                  <a:t>Sinusoidal:	 </a:t>
                </a:r>
                <a14:m>
                  <m:oMath xmlns:m="http://schemas.openxmlformats.org/officeDocument/2006/math">
                    <m:r>
                      <a:rPr lang="de-DE" sz="1600" b="0" i="1" smtClean="0">
                        <a:latin typeface="Cambria Math" panose="02040503050406030204" pitchFamily="18" charset="0"/>
                      </a:rPr>
                      <m:t>𝑦</m:t>
                    </m:r>
                    <m:r>
                      <a:rPr lang="de-DE" sz="1600" b="0" i="1" smtClean="0">
                        <a:latin typeface="Cambria Math" panose="02040503050406030204" pitchFamily="18" charset="0"/>
                      </a:rPr>
                      <m:t>=</m:t>
                    </m:r>
                    <m:r>
                      <a:rPr lang="de-DE" sz="1600" b="0" i="1" smtClean="0">
                        <a:latin typeface="Cambria Math" panose="02040503050406030204" pitchFamily="18" charset="0"/>
                      </a:rPr>
                      <m:t>𝑏</m:t>
                    </m:r>
                    <m:r>
                      <a:rPr lang="de-DE" sz="1600" b="0" i="1" smtClean="0">
                        <a:latin typeface="Cambria Math" panose="02040503050406030204" pitchFamily="18" charset="0"/>
                      </a:rPr>
                      <m:t>+4</m:t>
                    </m:r>
                    <m:r>
                      <a:rPr lang="de-DE" sz="1600" b="0" i="1" smtClean="0">
                        <a:latin typeface="Cambria Math" panose="02040503050406030204" pitchFamily="18" charset="0"/>
                      </a:rPr>
                      <m:t>𝑎</m:t>
                    </m:r>
                    <m:r>
                      <a:rPr lang="de-DE" sz="1600" b="0" i="1" smtClean="0">
                        <a:latin typeface="Cambria Math" panose="02040503050406030204" pitchFamily="18" charset="0"/>
                      </a:rPr>
                      <m:t>∗</m:t>
                    </m:r>
                    <m:func>
                      <m:funcPr>
                        <m:ctrlPr>
                          <a:rPr lang="de-DE" sz="1600" b="0" i="1" smtClean="0">
                            <a:latin typeface="Cambria Math" panose="02040503050406030204" pitchFamily="18" charset="0"/>
                          </a:rPr>
                        </m:ctrlPr>
                      </m:funcPr>
                      <m:fName>
                        <m:r>
                          <m:rPr>
                            <m:sty m:val="p"/>
                          </m:rPr>
                          <a:rPr lang="de-DE" sz="1600" b="0" i="0" smtClean="0">
                            <a:latin typeface="Cambria Math" panose="02040503050406030204" pitchFamily="18" charset="0"/>
                          </a:rPr>
                          <m:t>sin</m:t>
                        </m:r>
                      </m:fName>
                      <m:e>
                        <m:d>
                          <m:dPr>
                            <m:ctrlPr>
                              <a:rPr lang="de-DE" sz="1600" b="0" i="1" smtClean="0">
                                <a:latin typeface="Cambria Math" panose="02040503050406030204" pitchFamily="18" charset="0"/>
                              </a:rPr>
                            </m:ctrlPr>
                          </m:dPr>
                          <m:e>
                            <m:r>
                              <a:rPr lang="de-DE" sz="1600" b="0" i="1" smtClean="0">
                                <a:latin typeface="Cambria Math" panose="02040503050406030204" pitchFamily="18" charset="0"/>
                              </a:rPr>
                              <m:t>0.5</m:t>
                            </m:r>
                            <m:r>
                              <a:rPr lang="de-DE" sz="1600" b="0" i="1" smtClean="0">
                                <a:latin typeface="Cambria Math" panose="02040503050406030204" pitchFamily="18" charset="0"/>
                              </a:rPr>
                              <m:t>𝑥</m:t>
                            </m:r>
                          </m:e>
                        </m:d>
                      </m:e>
                    </m:func>
                  </m:oMath>
                </a14:m>
                <a:endParaRPr lang="de-DE" sz="1600" b="0" dirty="0"/>
              </a:p>
              <a:p>
                <a:pPr marL="457200" lvl="1" indent="0">
                  <a:buNone/>
                </a:pPr>
                <a:r>
                  <a:rPr lang="en-GB" sz="1600" dirty="0"/>
                  <a:t>Wave:	</a:t>
                </a:r>
                <a14:m>
                  <m:oMath xmlns:m="http://schemas.openxmlformats.org/officeDocument/2006/math">
                    <m:r>
                      <a:rPr lang="de-DE" sz="1600">
                        <a:latin typeface="Cambria Math" panose="02040503050406030204" pitchFamily="18" charset="0"/>
                      </a:rPr>
                      <m:t> </m:t>
                    </m:r>
                    <m:r>
                      <a:rPr lang="de-DE" sz="1600" b="0" i="1" smtClean="0">
                        <a:latin typeface="Cambria Math" panose="02040503050406030204" pitchFamily="18" charset="0"/>
                      </a:rPr>
                      <m:t>𝑦</m:t>
                    </m:r>
                    <m:r>
                      <a:rPr lang="de-DE" sz="1600" b="0" i="1" smtClean="0">
                        <a:latin typeface="Cambria Math" panose="02040503050406030204" pitchFamily="18" charset="0"/>
                      </a:rPr>
                      <m:t>=</m:t>
                    </m:r>
                    <m:r>
                      <a:rPr lang="de-DE" sz="1600" b="0" i="1" smtClean="0">
                        <a:latin typeface="Cambria Math" panose="02040503050406030204" pitchFamily="18" charset="0"/>
                      </a:rPr>
                      <m:t>𝑏</m:t>
                    </m:r>
                    <m:r>
                      <a:rPr lang="de-DE" sz="1600" b="0" i="1" smtClean="0">
                        <a:latin typeface="Cambria Math" panose="02040503050406030204" pitchFamily="18" charset="0"/>
                      </a:rPr>
                      <m:t>+4</m:t>
                    </m:r>
                    <m:r>
                      <a:rPr lang="de-DE" sz="1600" b="0" i="1" smtClean="0">
                        <a:latin typeface="Cambria Math" panose="02040503050406030204" pitchFamily="18" charset="0"/>
                      </a:rPr>
                      <m:t>𝑎</m:t>
                    </m:r>
                    <m:r>
                      <a:rPr lang="de-DE" sz="1600" b="0" i="1" smtClean="0">
                        <a:latin typeface="Cambria Math" panose="02040503050406030204" pitchFamily="18" charset="0"/>
                      </a:rPr>
                      <m:t>∗</m:t>
                    </m:r>
                    <m:func>
                      <m:funcPr>
                        <m:ctrlPr>
                          <a:rPr lang="de-DE" sz="1600" b="0" i="1" smtClean="0">
                            <a:latin typeface="Cambria Math" panose="02040503050406030204" pitchFamily="18" charset="0"/>
                          </a:rPr>
                        </m:ctrlPr>
                      </m:funcPr>
                      <m:fName>
                        <m:r>
                          <m:rPr>
                            <m:sty m:val="p"/>
                          </m:rPr>
                          <a:rPr lang="de-DE" sz="1600" b="0" i="0" smtClean="0">
                            <a:latin typeface="Cambria Math" panose="02040503050406030204" pitchFamily="18" charset="0"/>
                          </a:rPr>
                          <m:t>sin</m:t>
                        </m:r>
                      </m:fName>
                      <m:e>
                        <m:d>
                          <m:dPr>
                            <m:ctrlPr>
                              <a:rPr lang="de-DE" sz="1600" b="0" i="1" smtClean="0">
                                <a:latin typeface="Cambria Math" panose="02040503050406030204" pitchFamily="18" charset="0"/>
                              </a:rPr>
                            </m:ctrlPr>
                          </m:dPr>
                          <m:e>
                            <m:r>
                              <a:rPr lang="de-DE" sz="1600" b="0" i="1" smtClean="0">
                                <a:latin typeface="Cambria Math" panose="02040503050406030204" pitchFamily="18" charset="0"/>
                              </a:rPr>
                              <m:t>1.2∗</m:t>
                            </m:r>
                            <m:d>
                              <m:dPr>
                                <m:ctrlPr>
                                  <a:rPr lang="de-DE" sz="1600" b="0" i="1" smtClean="0">
                                    <a:latin typeface="Cambria Math" panose="02040503050406030204" pitchFamily="18" charset="0"/>
                                  </a:rPr>
                                </m:ctrlPr>
                              </m:dPr>
                              <m:e>
                                <m:r>
                                  <a:rPr lang="de-DE" sz="1600" b="0" i="1" smtClean="0">
                                    <a:latin typeface="Cambria Math" panose="02040503050406030204" pitchFamily="18" charset="0"/>
                                  </a:rPr>
                                  <m:t>𝑥</m:t>
                                </m:r>
                                <m:r>
                                  <a:rPr lang="de-DE" sz="1600" b="0" i="1" smtClean="0">
                                    <a:latin typeface="Cambria Math" panose="02040503050406030204" pitchFamily="18" charset="0"/>
                                  </a:rPr>
                                  <m:t>−5</m:t>
                                </m:r>
                              </m:e>
                            </m:d>
                            <m:r>
                              <a:rPr lang="de-DE" sz="1600" b="0" i="1" smtClean="0">
                                <a:latin typeface="Cambria Math" panose="02040503050406030204" pitchFamily="18" charset="0"/>
                              </a:rPr>
                              <m:t>∗</m:t>
                            </m:r>
                            <m:sSup>
                              <m:sSupPr>
                                <m:ctrlPr>
                                  <a:rPr lang="de-DE" sz="1600" b="0" i="1" smtClean="0">
                                    <a:latin typeface="Cambria Math" panose="02040503050406030204" pitchFamily="18" charset="0"/>
                                  </a:rPr>
                                </m:ctrlPr>
                              </m:sSupPr>
                              <m:e>
                                <m:r>
                                  <a:rPr lang="de-DE" sz="1600" b="0" i="1" smtClean="0">
                                    <a:latin typeface="Cambria Math" panose="02040503050406030204" pitchFamily="18" charset="0"/>
                                  </a:rPr>
                                  <m:t>𝑒</m:t>
                                </m:r>
                              </m:e>
                              <m:sup>
                                <m:d>
                                  <m:dPr>
                                    <m:ctrlPr>
                                      <a:rPr lang="de-DE" sz="1600" b="0" i="1" smtClean="0">
                                        <a:latin typeface="Cambria Math" panose="02040503050406030204" pitchFamily="18" charset="0"/>
                                      </a:rPr>
                                    </m:ctrlPr>
                                  </m:dPr>
                                  <m:e>
                                    <m:r>
                                      <a:rPr lang="de-DE" sz="1600" b="0" i="1" smtClean="0">
                                        <a:latin typeface="Cambria Math" panose="02040503050406030204" pitchFamily="18" charset="0"/>
                                      </a:rPr>
                                      <m:t>−0.1∗</m:t>
                                    </m:r>
                                    <m:sSup>
                                      <m:sSupPr>
                                        <m:ctrlPr>
                                          <a:rPr lang="de-DE" sz="1600" b="0" i="1" smtClean="0">
                                            <a:latin typeface="Cambria Math" panose="02040503050406030204" pitchFamily="18" charset="0"/>
                                          </a:rPr>
                                        </m:ctrlPr>
                                      </m:sSupPr>
                                      <m:e>
                                        <m:d>
                                          <m:dPr>
                                            <m:ctrlPr>
                                              <a:rPr lang="de-DE" sz="1600" b="0" i="1" smtClean="0">
                                                <a:latin typeface="Cambria Math" panose="02040503050406030204" pitchFamily="18" charset="0"/>
                                              </a:rPr>
                                            </m:ctrlPr>
                                          </m:dPr>
                                          <m:e>
                                            <m:r>
                                              <a:rPr lang="de-DE" sz="1600" b="0" i="1" smtClean="0">
                                                <a:latin typeface="Cambria Math" panose="02040503050406030204" pitchFamily="18" charset="0"/>
                                              </a:rPr>
                                              <m:t>𝑥</m:t>
                                            </m:r>
                                            <m:r>
                                              <a:rPr lang="de-DE" sz="1600" b="0" i="1" smtClean="0">
                                                <a:latin typeface="Cambria Math" panose="02040503050406030204" pitchFamily="18" charset="0"/>
                                              </a:rPr>
                                              <m:t>−5</m:t>
                                            </m:r>
                                          </m:e>
                                        </m:d>
                                      </m:e>
                                      <m:sup>
                                        <m:r>
                                          <a:rPr lang="de-DE" sz="1600" b="0" i="1" smtClean="0">
                                            <a:latin typeface="Cambria Math" panose="02040503050406030204" pitchFamily="18" charset="0"/>
                                          </a:rPr>
                                          <m:t>2</m:t>
                                        </m:r>
                                      </m:sup>
                                    </m:sSup>
                                  </m:e>
                                </m:d>
                              </m:sup>
                            </m:sSup>
                          </m:e>
                        </m:d>
                      </m:e>
                    </m:func>
                  </m:oMath>
                </a14:m>
                <a:endParaRPr lang="de-DE" sz="1600" b="0" dirty="0"/>
              </a:p>
              <a:p>
                <a:endParaRPr lang="de-DE" sz="2000" b="0" dirty="0"/>
              </a:p>
              <a:p>
                <a:r>
                  <a:rPr lang="en-GB" sz="2000" b="0" i="0" u="none" strike="noStrike" dirty="0">
                    <a:solidFill>
                      <a:srgbClr val="000000"/>
                    </a:solidFill>
                    <a:effectLst/>
                    <a:latin typeface="-webkit-standard"/>
                  </a:rPr>
                  <a:t>For each primary genotype, three replicates are generated by adding correlated random deviations (from a covariance-defined normal distribution) to its baseline offset and slope</a:t>
                </a:r>
              </a:p>
              <a:p>
                <a:pPr marL="0" indent="0">
                  <a:buNone/>
                </a:pPr>
                <a:endParaRPr lang="de-DE" sz="2000" b="0" dirty="0"/>
              </a:p>
            </p:txBody>
          </p:sp>
        </mc:Choice>
        <mc:Fallback xmlns="">
          <p:sp>
            <p:nvSpPr>
              <p:cNvPr id="3" name="Content Placeholder 2">
                <a:extLst>
                  <a:ext uri="{FF2B5EF4-FFF2-40B4-BE49-F238E27FC236}">
                    <a16:creationId xmlns:a16="http://schemas.microsoft.com/office/drawing/2014/main" id="{B7DD063D-35DC-E8EC-FDE4-621334AE39AB}"/>
                  </a:ext>
                </a:extLst>
              </p:cNvPr>
              <p:cNvSpPr>
                <a:spLocks noGrp="1" noRot="1" noChangeAspect="1" noMove="1" noResize="1" noEditPoints="1" noAdjustHandles="1" noChangeArrowheads="1" noChangeShapeType="1" noTextEdit="1"/>
              </p:cNvSpPr>
              <p:nvPr>
                <p:ph idx="1"/>
              </p:nvPr>
            </p:nvSpPr>
            <p:spPr>
              <a:xfrm>
                <a:off x="147734" y="1847850"/>
                <a:ext cx="12317963" cy="4351338"/>
              </a:xfrm>
              <a:blipFill>
                <a:blip r:embed="rId3"/>
                <a:stretch>
                  <a:fillRect l="-412" t="-1453"/>
                </a:stretch>
              </a:blipFill>
            </p:spPr>
            <p:txBody>
              <a:bodyPr/>
              <a:lstStyle/>
              <a:p>
                <a:r>
                  <a:rPr lang="en-DE">
                    <a:noFill/>
                  </a:rPr>
                  <a:t> </a:t>
                </a:r>
              </a:p>
            </p:txBody>
          </p:sp>
        </mc:Fallback>
      </mc:AlternateContent>
      <p:sp>
        <p:nvSpPr>
          <p:cNvPr id="4" name="Slide Number Placeholder 3">
            <a:extLst>
              <a:ext uri="{FF2B5EF4-FFF2-40B4-BE49-F238E27FC236}">
                <a16:creationId xmlns:a16="http://schemas.microsoft.com/office/drawing/2014/main" id="{7859B4A2-9BEA-4A4E-9F85-5781132B107F}"/>
              </a:ext>
            </a:extLst>
          </p:cNvPr>
          <p:cNvSpPr>
            <a:spLocks noGrp="1"/>
          </p:cNvSpPr>
          <p:nvPr>
            <p:ph type="sldNum" sz="quarter" idx="12"/>
          </p:nvPr>
        </p:nvSpPr>
        <p:spPr/>
        <p:txBody>
          <a:bodyPr/>
          <a:lstStyle/>
          <a:p>
            <a:fld id="{3F6C359D-CFAE-9B41-B51B-43E777F3E1C6}" type="slidenum">
              <a:rPr lang="en-DE" smtClean="0"/>
              <a:t>2</a:t>
            </a:fld>
            <a:endParaRPr lang="en-DE" dirty="0"/>
          </a:p>
        </p:txBody>
      </p:sp>
    </p:spTree>
    <p:extLst>
      <p:ext uri="{BB962C8B-B14F-4D97-AF65-F5344CB8AC3E}">
        <p14:creationId xmlns:p14="http://schemas.microsoft.com/office/powerpoint/2010/main" val="121106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0BA76-3791-B9E6-5454-B7DB6F5B5BB8}"/>
              </a:ext>
            </a:extLst>
          </p:cNvPr>
          <p:cNvSpPr>
            <a:spLocks noGrp="1"/>
          </p:cNvSpPr>
          <p:nvPr>
            <p:ph type="title"/>
          </p:nvPr>
        </p:nvSpPr>
        <p:spPr>
          <a:xfrm>
            <a:off x="838200" y="146425"/>
            <a:ext cx="10515600" cy="1325563"/>
          </a:xfrm>
        </p:spPr>
        <p:txBody>
          <a:bodyPr/>
          <a:lstStyle/>
          <a:p>
            <a:r>
              <a:rPr lang="en-GB" b="0" i="0" u="none" strike="noStrike" dirty="0">
                <a:solidFill>
                  <a:srgbClr val="333333"/>
                </a:solidFill>
                <a:effectLst/>
                <a:highlight>
                  <a:srgbClr val="FFFFFF"/>
                </a:highlight>
                <a:latin typeface="Source Sans Pro" panose="020B0503030403020204" pitchFamily="34" charset="0"/>
              </a:rPr>
              <a:t>Data Synthesis</a:t>
            </a:r>
            <a:endParaRPr lang="en-DE" dirty="0"/>
          </a:p>
        </p:txBody>
      </p:sp>
      <p:pic>
        <p:nvPicPr>
          <p:cNvPr id="5" name="Content Placeholder 4">
            <a:extLst>
              <a:ext uri="{FF2B5EF4-FFF2-40B4-BE49-F238E27FC236}">
                <a16:creationId xmlns:a16="http://schemas.microsoft.com/office/drawing/2014/main" id="{3F228726-2008-33AD-4D67-560491896E04}"/>
              </a:ext>
            </a:extLst>
          </p:cNvPr>
          <p:cNvPicPr>
            <a:picLocks noGrp="1" noChangeAspect="1"/>
          </p:cNvPicPr>
          <p:nvPr>
            <p:ph idx="1"/>
          </p:nvPr>
        </p:nvPicPr>
        <p:blipFill>
          <a:blip r:embed="rId2"/>
          <a:stretch>
            <a:fillRect/>
          </a:stretch>
        </p:blipFill>
        <p:spPr>
          <a:xfrm>
            <a:off x="838200" y="1534968"/>
            <a:ext cx="5751786" cy="5176608"/>
          </a:xfrm>
        </p:spPr>
      </p:pic>
      <p:sp>
        <p:nvSpPr>
          <p:cNvPr id="8" name="TextBox 7">
            <a:extLst>
              <a:ext uri="{FF2B5EF4-FFF2-40B4-BE49-F238E27FC236}">
                <a16:creationId xmlns:a16="http://schemas.microsoft.com/office/drawing/2014/main" id="{696EBC93-AF4A-E535-E8D2-A935544DD5F5}"/>
              </a:ext>
            </a:extLst>
          </p:cNvPr>
          <p:cNvSpPr txBox="1"/>
          <p:nvPr/>
        </p:nvSpPr>
        <p:spPr>
          <a:xfrm>
            <a:off x="6855735" y="3185469"/>
            <a:ext cx="4758196" cy="1815882"/>
          </a:xfrm>
          <a:prstGeom prst="rect">
            <a:avLst/>
          </a:prstGeom>
          <a:noFill/>
        </p:spPr>
        <p:txBody>
          <a:bodyPr wrap="square" rtlCol="0">
            <a:spAutoFit/>
          </a:bodyPr>
          <a:lstStyle/>
          <a:p>
            <a:pPr marL="342900" indent="-342900" algn="just">
              <a:buAutoNum type="alphaUcParenBoth"/>
            </a:pPr>
            <a:r>
              <a:rPr lang="en-GB" sz="1400" dirty="0"/>
              <a:t>Four reaction-norm shapes shown as the “mother” genotype (solid lines) and three replicate curves (dashed lines) generated by sampling from a covariance structure on intercept and slope. In total 80 genotypes - 20 per form - were simulated. </a:t>
            </a:r>
          </a:p>
          <a:p>
            <a:pPr marL="342900" indent="-342900" algn="just">
              <a:buAutoNum type="alphaUcParenBoth"/>
            </a:pPr>
            <a:endParaRPr lang="en-GB" sz="1400" dirty="0"/>
          </a:p>
          <a:p>
            <a:pPr marL="342900" indent="-342900" algn="just">
              <a:buAutoNum type="alphaUcParenBoth"/>
            </a:pPr>
            <a:r>
              <a:rPr lang="en-GB" sz="1400" dirty="0"/>
              <a:t>Trait-value density histograms and kernel densities for each reaction norm type.</a:t>
            </a:r>
            <a:endParaRPr lang="en-DE" sz="1400" dirty="0"/>
          </a:p>
        </p:txBody>
      </p:sp>
    </p:spTree>
    <p:extLst>
      <p:ext uri="{BB962C8B-B14F-4D97-AF65-F5344CB8AC3E}">
        <p14:creationId xmlns:p14="http://schemas.microsoft.com/office/powerpoint/2010/main" val="3137858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302BC-A266-969A-131F-FB1478015322}"/>
              </a:ext>
            </a:extLst>
          </p:cNvPr>
          <p:cNvSpPr>
            <a:spLocks noGrp="1"/>
          </p:cNvSpPr>
          <p:nvPr>
            <p:ph type="title"/>
          </p:nvPr>
        </p:nvSpPr>
        <p:spPr/>
        <p:txBody>
          <a:bodyPr/>
          <a:lstStyle/>
          <a:p>
            <a:r>
              <a:rPr lang="en-DE" dirty="0"/>
              <a:t>Plasticity scores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EB15F64-7530-838C-024B-1C8C4016FAC2}"/>
                  </a:ext>
                </a:extLst>
              </p:cNvPr>
              <p:cNvSpPr>
                <a:spLocks noGrp="1"/>
              </p:cNvSpPr>
              <p:nvPr>
                <p:ph idx="1"/>
              </p:nvPr>
            </p:nvSpPr>
            <p:spPr/>
            <p:txBody>
              <a:bodyPr>
                <a:normAutofit/>
              </a:bodyPr>
              <a:lstStyle/>
              <a:p>
                <a:r>
                  <a:rPr lang="en-DE" sz="2000" dirty="0"/>
                  <a:t>Reaction norms quantified via 27 nominal (i.e. comparing genotypes) plasticity scores </a:t>
                </a:r>
              </a:p>
              <a:p>
                <a:r>
                  <a:rPr lang="en-DE" sz="2000" dirty="0"/>
                  <a:t>Scores can be categorized in 3 groups based on their formulation </a:t>
                </a:r>
              </a:p>
              <a:p>
                <a:pPr lvl="1"/>
                <a:r>
                  <a:rPr lang="en-GB" sz="1600" dirty="0"/>
                  <a:t>Group 1: Variability/Dispersion Measures</a:t>
                </a:r>
              </a:p>
              <a:p>
                <a:pPr lvl="2"/>
                <a:r>
                  <a:rPr lang="en-GB" sz="1200" dirty="0"/>
                  <a:t>e.g. Coefficient of variation of traits : </a:t>
                </a:r>
                <a14:m>
                  <m:oMath xmlns:m="http://schemas.openxmlformats.org/officeDocument/2006/math">
                    <m:sSub>
                      <m:sSubPr>
                        <m:ctrlPr>
                          <a:rPr lang="en-GB" sz="1200" i="1" smtClean="0">
                            <a:latin typeface="Cambria Math" panose="02040503050406030204" pitchFamily="18" charset="0"/>
                          </a:rPr>
                        </m:ctrlPr>
                      </m:sSubPr>
                      <m:e>
                        <m:r>
                          <a:rPr lang="de-DE" sz="1200" b="0" i="1" smtClean="0">
                            <a:latin typeface="Cambria Math" panose="02040503050406030204" pitchFamily="18" charset="0"/>
                          </a:rPr>
                          <m:t>𝐶𝑉</m:t>
                        </m:r>
                      </m:e>
                      <m:sub>
                        <m:r>
                          <a:rPr lang="de-DE" sz="1200" b="0" i="1" smtClean="0">
                            <a:latin typeface="Cambria Math" panose="02040503050406030204" pitchFamily="18" charset="0"/>
                          </a:rPr>
                          <m:t>𝑇</m:t>
                        </m:r>
                      </m:sub>
                    </m:sSub>
                    <m:r>
                      <a:rPr lang="de-DE" sz="1200" b="0" i="1" smtClean="0">
                        <a:latin typeface="Cambria Math" panose="02040503050406030204" pitchFamily="18" charset="0"/>
                      </a:rPr>
                      <m:t>=</m:t>
                    </m:r>
                    <m:f>
                      <m:fPr>
                        <m:ctrlPr>
                          <a:rPr lang="de-DE" sz="1200" b="0" i="1" smtClean="0">
                            <a:latin typeface="Cambria Math" panose="02040503050406030204" pitchFamily="18" charset="0"/>
                          </a:rPr>
                        </m:ctrlPr>
                      </m:fPr>
                      <m:num>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ea typeface="Cambria Math" panose="02040503050406030204" pitchFamily="18" charset="0"/>
                              </a:rPr>
                              <m:t>𝜎</m:t>
                            </m:r>
                          </m:e>
                          <m:sub>
                            <m:r>
                              <a:rPr lang="de-DE" sz="1200" b="0" i="1" smtClean="0">
                                <a:latin typeface="Cambria Math" panose="02040503050406030204" pitchFamily="18" charset="0"/>
                              </a:rPr>
                              <m:t>𝑇</m:t>
                            </m:r>
                          </m:sub>
                        </m:sSub>
                      </m:num>
                      <m:den>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ea typeface="Cambria Math" panose="02040503050406030204" pitchFamily="18" charset="0"/>
                              </a:rPr>
                              <m:t>𝜇</m:t>
                            </m:r>
                          </m:e>
                          <m:sub>
                            <m:r>
                              <a:rPr lang="de-DE" sz="1200" b="0" i="1" smtClean="0">
                                <a:latin typeface="Cambria Math" panose="02040503050406030204" pitchFamily="18" charset="0"/>
                              </a:rPr>
                              <m:t>𝑇</m:t>
                            </m:r>
                          </m:sub>
                        </m:sSub>
                      </m:den>
                    </m:f>
                  </m:oMath>
                </a14:m>
                <a:r>
                  <a:rPr lang="en-DE" sz="1200" dirty="0">
                    <a:sym typeface="Wingdings" pitchFamily="2" charset="2"/>
                  </a:rPr>
                  <a:t>      </a:t>
                </a:r>
                <a:r>
                  <a:rPr lang="en-GB" sz="1200" dirty="0">
                    <a:sym typeface="Wingdings" pitchFamily="2" charset="2"/>
                  </a:rPr>
                  <a:t>relative variability of trait values</a:t>
                </a:r>
              </a:p>
              <a:p>
                <a:pPr lvl="2"/>
                <a:endParaRPr lang="en-DE" sz="1200" dirty="0"/>
              </a:p>
              <a:p>
                <a:pPr lvl="1"/>
                <a:r>
                  <a:rPr lang="en-GB" sz="1600" dirty="0"/>
                  <a:t>Group 2: Slope/Gradient and Change Measures</a:t>
                </a:r>
              </a:p>
              <a:p>
                <a:pPr lvl="2"/>
                <a:r>
                  <a:rPr lang="en-GB" sz="1200" dirty="0"/>
                  <a:t>e.g.  Reaction norm slope (linear) : </a:t>
                </a:r>
                <a14:m>
                  <m:oMath xmlns:m="http://schemas.openxmlformats.org/officeDocument/2006/math">
                    <m:r>
                      <a:rPr lang="de-DE" sz="1200" b="0" i="1" smtClean="0">
                        <a:latin typeface="Cambria Math" panose="02040503050406030204" pitchFamily="18" charset="0"/>
                      </a:rPr>
                      <m:t>𝑅𝑁</m:t>
                    </m:r>
                    <m:r>
                      <a:rPr lang="de-DE" sz="1200" b="0" i="1" smtClean="0">
                        <a:latin typeface="Cambria Math" panose="02040503050406030204" pitchFamily="18" charset="0"/>
                      </a:rPr>
                      <m:t>=ß</m:t>
                    </m:r>
                  </m:oMath>
                </a14:m>
                <a:endParaRPr lang="de-DE" sz="1200" b="0" dirty="0"/>
              </a:p>
              <a:p>
                <a:pPr lvl="2"/>
                <a:endParaRPr lang="en-DE" sz="1200" dirty="0"/>
              </a:p>
              <a:p>
                <a:pPr lvl="1"/>
                <a:r>
                  <a:rPr lang="en-GB" sz="1600" dirty="0"/>
                  <a:t>Group 3: Relative and Adjusted Means Measures</a:t>
                </a:r>
                <a:endParaRPr lang="en-DE" sz="1200" dirty="0"/>
              </a:p>
              <a:p>
                <a:pPr lvl="2"/>
                <a:r>
                  <a:rPr lang="en-GB" sz="1200" dirty="0"/>
                  <a:t>e.g. Phenotypic Plasticity Index: </a:t>
                </a:r>
                <a14:m>
                  <m:oMath xmlns:m="http://schemas.openxmlformats.org/officeDocument/2006/math">
                    <m:r>
                      <a:rPr lang="de-DE" sz="1200" b="0" i="1" smtClean="0">
                        <a:latin typeface="Cambria Math" panose="02040503050406030204" pitchFamily="18" charset="0"/>
                      </a:rPr>
                      <m:t>𝑃𝑃𝐼</m:t>
                    </m:r>
                    <m:r>
                      <a:rPr lang="de-DE" sz="1200" b="0" i="1" smtClean="0">
                        <a:latin typeface="Cambria Math" panose="02040503050406030204" pitchFamily="18" charset="0"/>
                      </a:rPr>
                      <m:t>=</m:t>
                    </m:r>
                    <m:f>
                      <m:fPr>
                        <m:ctrlPr>
                          <a:rPr lang="de-DE" sz="1200" b="0" i="1" smtClean="0">
                            <a:latin typeface="Cambria Math" panose="02040503050406030204" pitchFamily="18" charset="0"/>
                          </a:rPr>
                        </m:ctrlPr>
                      </m:fPr>
                      <m:num>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𝑇</m:t>
                            </m:r>
                          </m:e>
                          <m:sub>
                            <m:r>
                              <a:rPr lang="de-DE" sz="1200" b="0" i="1" smtClean="0">
                                <a:latin typeface="Cambria Math" panose="02040503050406030204" pitchFamily="18" charset="0"/>
                              </a:rPr>
                              <m:t>𝑚𝑎𝑥</m:t>
                            </m:r>
                          </m:sub>
                        </m:sSub>
                        <m:r>
                          <a:rPr lang="de-DE" sz="1200" b="0" i="1" smtClean="0">
                            <a:latin typeface="Cambria Math" panose="02040503050406030204" pitchFamily="18" charset="0"/>
                          </a:rPr>
                          <m:t>− </m:t>
                        </m:r>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𝑇</m:t>
                            </m:r>
                          </m:e>
                          <m:sub>
                            <m:r>
                              <a:rPr lang="de-DE" sz="1200" b="0" i="1" smtClean="0">
                                <a:latin typeface="Cambria Math" panose="02040503050406030204" pitchFamily="18" charset="0"/>
                              </a:rPr>
                              <m:t>𝑚𝑖𝑛</m:t>
                            </m:r>
                          </m:sub>
                        </m:sSub>
                      </m:num>
                      <m:den>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𝑇</m:t>
                            </m:r>
                          </m:e>
                          <m:sub>
                            <m:r>
                              <a:rPr lang="de-DE" sz="1200" b="0" i="1" smtClean="0">
                                <a:latin typeface="Cambria Math" panose="02040503050406030204" pitchFamily="18" charset="0"/>
                              </a:rPr>
                              <m:t>𝑚𝑎𝑥</m:t>
                            </m:r>
                          </m:sub>
                        </m:sSub>
                      </m:den>
                    </m:f>
                  </m:oMath>
                </a14:m>
                <a:endParaRPr lang="en-GB" sz="1200" dirty="0"/>
              </a:p>
            </p:txBody>
          </p:sp>
        </mc:Choice>
        <mc:Fallback xmlns="">
          <p:sp>
            <p:nvSpPr>
              <p:cNvPr id="3" name="Content Placeholder 2">
                <a:extLst>
                  <a:ext uri="{FF2B5EF4-FFF2-40B4-BE49-F238E27FC236}">
                    <a16:creationId xmlns:a16="http://schemas.microsoft.com/office/drawing/2014/main" id="{2EB15F64-7530-838C-024B-1C8C4016FAC2}"/>
                  </a:ext>
                </a:extLst>
              </p:cNvPr>
              <p:cNvSpPr>
                <a:spLocks noGrp="1" noRot="1" noChangeAspect="1" noMove="1" noResize="1" noEditPoints="1" noAdjustHandles="1" noChangeArrowheads="1" noChangeShapeType="1" noTextEdit="1"/>
              </p:cNvSpPr>
              <p:nvPr>
                <p:ph idx="1"/>
              </p:nvPr>
            </p:nvSpPr>
            <p:spPr>
              <a:blipFill>
                <a:blip r:embed="rId2"/>
                <a:stretch>
                  <a:fillRect l="-603" t="-1163"/>
                </a:stretch>
              </a:blipFill>
            </p:spPr>
            <p:txBody>
              <a:bodyPr/>
              <a:lstStyle/>
              <a:p>
                <a:r>
                  <a:rPr lang="en-DE">
                    <a:noFill/>
                  </a:rPr>
                  <a:t> </a:t>
                </a:r>
              </a:p>
            </p:txBody>
          </p:sp>
        </mc:Fallback>
      </mc:AlternateContent>
      <p:sp>
        <p:nvSpPr>
          <p:cNvPr id="4" name="Slide Number Placeholder 3">
            <a:extLst>
              <a:ext uri="{FF2B5EF4-FFF2-40B4-BE49-F238E27FC236}">
                <a16:creationId xmlns:a16="http://schemas.microsoft.com/office/drawing/2014/main" id="{C5B41496-BEF1-EE4B-0774-E310201825AD}"/>
              </a:ext>
            </a:extLst>
          </p:cNvPr>
          <p:cNvSpPr>
            <a:spLocks noGrp="1"/>
          </p:cNvSpPr>
          <p:nvPr>
            <p:ph type="sldNum" sz="quarter" idx="12"/>
          </p:nvPr>
        </p:nvSpPr>
        <p:spPr/>
        <p:txBody>
          <a:bodyPr/>
          <a:lstStyle/>
          <a:p>
            <a:fld id="{3F6C359D-CFAE-9B41-B51B-43E777F3E1C6}" type="slidenum">
              <a:rPr lang="en-DE" smtClean="0"/>
              <a:t>4</a:t>
            </a:fld>
            <a:endParaRPr lang="en-DE"/>
          </a:p>
        </p:txBody>
      </p:sp>
    </p:spTree>
    <p:extLst>
      <p:ext uri="{BB962C8B-B14F-4D97-AF65-F5344CB8AC3E}">
        <p14:creationId xmlns:p14="http://schemas.microsoft.com/office/powerpoint/2010/main" val="2668337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14138-7F11-3F65-69E8-7FDFCDF3A7A3}"/>
              </a:ext>
            </a:extLst>
          </p:cNvPr>
          <p:cNvSpPr>
            <a:spLocks noGrp="1"/>
          </p:cNvSpPr>
          <p:nvPr>
            <p:ph type="title"/>
          </p:nvPr>
        </p:nvSpPr>
        <p:spPr/>
        <p:txBody>
          <a:bodyPr/>
          <a:lstStyle/>
          <a:p>
            <a:r>
              <a:rPr lang="en-DE" dirty="0"/>
              <a:t>Plasticity score equations</a:t>
            </a:r>
          </a:p>
        </p:txBody>
      </p:sp>
      <p:sp>
        <p:nvSpPr>
          <p:cNvPr id="3" name="Content Placeholder 2">
            <a:extLst>
              <a:ext uri="{FF2B5EF4-FFF2-40B4-BE49-F238E27FC236}">
                <a16:creationId xmlns:a16="http://schemas.microsoft.com/office/drawing/2014/main" id="{B495A020-C05F-1226-B1F4-B3A17D5AC477}"/>
              </a:ext>
            </a:extLst>
          </p:cNvPr>
          <p:cNvSpPr>
            <a:spLocks noGrp="1"/>
          </p:cNvSpPr>
          <p:nvPr>
            <p:ph idx="1"/>
          </p:nvPr>
        </p:nvSpPr>
        <p:spPr/>
        <p:txBody>
          <a:bodyPr/>
          <a:lstStyle/>
          <a:p>
            <a:r>
              <a:rPr lang="en-GB" b="0" i="0" u="none" strike="noStrike" dirty="0">
                <a:solidFill>
                  <a:srgbClr val="000000"/>
                </a:solidFill>
                <a:effectLst/>
                <a:latin typeface="-webkit-standard"/>
              </a:rPr>
              <a:t>Coefficient of Variation for Plasticity (</a:t>
            </a:r>
            <a:r>
              <a:rPr lang="en-GB" b="0" i="0" u="none" strike="noStrike" dirty="0" err="1">
                <a:solidFill>
                  <a:srgbClr val="000000"/>
                </a:solidFill>
                <a:effectLst/>
                <a:latin typeface="-webkit-standard"/>
              </a:rPr>
              <a:t>CVt</a:t>
            </a:r>
            <a:r>
              <a:rPr lang="en-GB" b="0" i="0" u="none" strike="noStrike" dirty="0">
                <a:solidFill>
                  <a:srgbClr val="000000"/>
                </a:solidFill>
                <a:effectLst/>
                <a:latin typeface="-webkit-standard"/>
              </a:rPr>
              <a:t>)</a:t>
            </a:r>
          </a:p>
          <a:p>
            <a:r>
              <a:rPr lang="en-GB" dirty="0">
                <a:solidFill>
                  <a:srgbClr val="000000"/>
                </a:solidFill>
                <a:latin typeface="-webkit-standard"/>
              </a:rPr>
              <a:t>Slope of reaction norm </a:t>
            </a:r>
            <a:r>
              <a:rPr lang="en-GB" b="0" i="0" u="none" strike="noStrike" dirty="0">
                <a:solidFill>
                  <a:srgbClr val="000000"/>
                </a:solidFill>
                <a:effectLst/>
                <a:latin typeface="-webkit-standard"/>
              </a:rPr>
              <a:t>	(RN)</a:t>
            </a:r>
          </a:p>
          <a:p>
            <a:r>
              <a:rPr lang="en-DE" dirty="0"/>
              <a:t>D Slope</a:t>
            </a:r>
          </a:p>
          <a:p>
            <a:r>
              <a:rPr lang="en-DE" dirty="0"/>
              <a:t>Response Coefficient </a:t>
            </a:r>
          </a:p>
          <a:p>
            <a:r>
              <a:rPr lang="en-DE" dirty="0"/>
              <a:t>Grand Plasticity (gPi)</a:t>
            </a:r>
          </a:p>
          <a:p>
            <a:r>
              <a:rPr lang="en-GB" dirty="0"/>
              <a:t>Phenotypic Plasticity Factor </a:t>
            </a:r>
          </a:p>
          <a:p>
            <a:r>
              <a:rPr lang="en-GB" dirty="0"/>
              <a:t>Reaction Norm non-linear (RNN)</a:t>
            </a:r>
          </a:p>
          <a:p>
            <a:endParaRPr lang="en-DE" dirty="0"/>
          </a:p>
        </p:txBody>
      </p:sp>
      <p:sp>
        <p:nvSpPr>
          <p:cNvPr id="4" name="Slide Number Placeholder 3">
            <a:extLst>
              <a:ext uri="{FF2B5EF4-FFF2-40B4-BE49-F238E27FC236}">
                <a16:creationId xmlns:a16="http://schemas.microsoft.com/office/drawing/2014/main" id="{DA1D7A28-E327-A480-2541-8AB69B741494}"/>
              </a:ext>
            </a:extLst>
          </p:cNvPr>
          <p:cNvSpPr>
            <a:spLocks noGrp="1"/>
          </p:cNvSpPr>
          <p:nvPr>
            <p:ph type="sldNum" sz="quarter" idx="12"/>
          </p:nvPr>
        </p:nvSpPr>
        <p:spPr/>
        <p:txBody>
          <a:bodyPr/>
          <a:lstStyle/>
          <a:p>
            <a:fld id="{3F6C359D-CFAE-9B41-B51B-43E777F3E1C6}" type="slidenum">
              <a:rPr lang="en-DE" smtClean="0"/>
              <a:t>5</a:t>
            </a:fld>
            <a:endParaRPr lang="en-DE"/>
          </a:p>
        </p:txBody>
      </p:sp>
      <p:pic>
        <p:nvPicPr>
          <p:cNvPr id="5" name="Picture 4">
            <a:extLst>
              <a:ext uri="{FF2B5EF4-FFF2-40B4-BE49-F238E27FC236}">
                <a16:creationId xmlns:a16="http://schemas.microsoft.com/office/drawing/2014/main" id="{F6E2E196-0096-1048-9D88-4D654DA682D2}"/>
              </a:ext>
            </a:extLst>
          </p:cNvPr>
          <p:cNvPicPr>
            <a:picLocks noChangeAspect="1"/>
          </p:cNvPicPr>
          <p:nvPr/>
        </p:nvPicPr>
        <p:blipFill>
          <a:blip r:embed="rId2"/>
          <a:stretch>
            <a:fillRect/>
          </a:stretch>
        </p:blipFill>
        <p:spPr>
          <a:xfrm>
            <a:off x="7336675" y="1646238"/>
            <a:ext cx="3301742" cy="692958"/>
          </a:xfrm>
          <a:prstGeom prst="rect">
            <a:avLst/>
          </a:prstGeom>
        </p:spPr>
      </p:pic>
      <p:pic>
        <p:nvPicPr>
          <p:cNvPr id="6" name="Picture 5">
            <a:extLst>
              <a:ext uri="{FF2B5EF4-FFF2-40B4-BE49-F238E27FC236}">
                <a16:creationId xmlns:a16="http://schemas.microsoft.com/office/drawing/2014/main" id="{38E69133-6F68-57C3-C6D4-0316B33A0F2E}"/>
              </a:ext>
            </a:extLst>
          </p:cNvPr>
          <p:cNvPicPr>
            <a:picLocks noChangeAspect="1"/>
          </p:cNvPicPr>
          <p:nvPr/>
        </p:nvPicPr>
        <p:blipFill>
          <a:blip r:embed="rId3"/>
          <a:stretch>
            <a:fillRect/>
          </a:stretch>
        </p:blipFill>
        <p:spPr>
          <a:xfrm>
            <a:off x="5270474" y="2271106"/>
            <a:ext cx="2701636" cy="616310"/>
          </a:xfrm>
          <a:prstGeom prst="rect">
            <a:avLst/>
          </a:prstGeom>
        </p:spPr>
      </p:pic>
      <p:pic>
        <p:nvPicPr>
          <p:cNvPr id="7" name="Picture 6">
            <a:extLst>
              <a:ext uri="{FF2B5EF4-FFF2-40B4-BE49-F238E27FC236}">
                <a16:creationId xmlns:a16="http://schemas.microsoft.com/office/drawing/2014/main" id="{2ADFF1E4-5E80-FB3C-424D-608AB2381758}"/>
              </a:ext>
            </a:extLst>
          </p:cNvPr>
          <p:cNvPicPr>
            <a:picLocks noChangeAspect="1"/>
          </p:cNvPicPr>
          <p:nvPr/>
        </p:nvPicPr>
        <p:blipFill>
          <a:blip r:embed="rId4"/>
          <a:stretch>
            <a:fillRect/>
          </a:stretch>
        </p:blipFill>
        <p:spPr>
          <a:xfrm>
            <a:off x="3175461" y="2971801"/>
            <a:ext cx="4688377" cy="449570"/>
          </a:xfrm>
          <a:prstGeom prst="rect">
            <a:avLst/>
          </a:prstGeom>
        </p:spPr>
      </p:pic>
      <p:pic>
        <p:nvPicPr>
          <p:cNvPr id="8" name="Picture 7">
            <a:extLst>
              <a:ext uri="{FF2B5EF4-FFF2-40B4-BE49-F238E27FC236}">
                <a16:creationId xmlns:a16="http://schemas.microsoft.com/office/drawing/2014/main" id="{653BE442-C58F-348F-7EDB-0977FC58CAA8}"/>
              </a:ext>
            </a:extLst>
          </p:cNvPr>
          <p:cNvPicPr>
            <a:picLocks noChangeAspect="1"/>
          </p:cNvPicPr>
          <p:nvPr/>
        </p:nvPicPr>
        <p:blipFill>
          <a:blip r:embed="rId5"/>
          <a:stretch>
            <a:fillRect/>
          </a:stretch>
        </p:blipFill>
        <p:spPr>
          <a:xfrm>
            <a:off x="5577840" y="3284745"/>
            <a:ext cx="3189715" cy="632026"/>
          </a:xfrm>
          <a:prstGeom prst="rect">
            <a:avLst/>
          </a:prstGeom>
        </p:spPr>
      </p:pic>
      <p:pic>
        <p:nvPicPr>
          <p:cNvPr id="12" name="Picture 11">
            <a:extLst>
              <a:ext uri="{FF2B5EF4-FFF2-40B4-BE49-F238E27FC236}">
                <a16:creationId xmlns:a16="http://schemas.microsoft.com/office/drawing/2014/main" id="{03383E16-B3A5-358D-78D2-38A9B0E216C4}"/>
              </a:ext>
            </a:extLst>
          </p:cNvPr>
          <p:cNvPicPr>
            <a:picLocks noChangeAspect="1"/>
          </p:cNvPicPr>
          <p:nvPr/>
        </p:nvPicPr>
        <p:blipFill>
          <a:blip r:embed="rId6"/>
          <a:stretch>
            <a:fillRect/>
          </a:stretch>
        </p:blipFill>
        <p:spPr>
          <a:xfrm>
            <a:off x="5675573" y="4637534"/>
            <a:ext cx="3773924" cy="449571"/>
          </a:xfrm>
          <a:prstGeom prst="rect">
            <a:avLst/>
          </a:prstGeom>
        </p:spPr>
      </p:pic>
      <p:pic>
        <p:nvPicPr>
          <p:cNvPr id="15" name="Picture 14">
            <a:extLst>
              <a:ext uri="{FF2B5EF4-FFF2-40B4-BE49-F238E27FC236}">
                <a16:creationId xmlns:a16="http://schemas.microsoft.com/office/drawing/2014/main" id="{42266FBF-6FCA-56D6-110B-D275633FD0C6}"/>
              </a:ext>
            </a:extLst>
          </p:cNvPr>
          <p:cNvPicPr>
            <a:picLocks noChangeAspect="1"/>
          </p:cNvPicPr>
          <p:nvPr/>
        </p:nvPicPr>
        <p:blipFill>
          <a:blip r:embed="rId7"/>
          <a:stretch>
            <a:fillRect/>
          </a:stretch>
        </p:blipFill>
        <p:spPr>
          <a:xfrm>
            <a:off x="5738557" y="5546972"/>
            <a:ext cx="3710940" cy="270981"/>
          </a:xfrm>
          <a:prstGeom prst="rect">
            <a:avLst/>
          </a:prstGeom>
        </p:spPr>
      </p:pic>
      <p:pic>
        <p:nvPicPr>
          <p:cNvPr id="16" name="Picture 15">
            <a:extLst>
              <a:ext uri="{FF2B5EF4-FFF2-40B4-BE49-F238E27FC236}">
                <a16:creationId xmlns:a16="http://schemas.microsoft.com/office/drawing/2014/main" id="{0071B714-F7E2-9571-9C38-05CEE553170F}"/>
              </a:ext>
            </a:extLst>
          </p:cNvPr>
          <p:cNvPicPr>
            <a:picLocks noChangeAspect="1"/>
          </p:cNvPicPr>
          <p:nvPr/>
        </p:nvPicPr>
        <p:blipFill>
          <a:blip r:embed="rId8"/>
          <a:stretch>
            <a:fillRect/>
          </a:stretch>
        </p:blipFill>
        <p:spPr>
          <a:xfrm>
            <a:off x="4851427" y="3916771"/>
            <a:ext cx="1774260" cy="445304"/>
          </a:xfrm>
          <a:prstGeom prst="rect">
            <a:avLst/>
          </a:prstGeom>
        </p:spPr>
      </p:pic>
    </p:spTree>
    <p:extLst>
      <p:ext uri="{BB962C8B-B14F-4D97-AF65-F5344CB8AC3E}">
        <p14:creationId xmlns:p14="http://schemas.microsoft.com/office/powerpoint/2010/main" val="3695966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38D0D-3B37-11D8-CBE2-79AD9DFC0B57}"/>
              </a:ext>
            </a:extLst>
          </p:cNvPr>
          <p:cNvSpPr>
            <a:spLocks noGrp="1"/>
          </p:cNvSpPr>
          <p:nvPr>
            <p:ph type="title"/>
          </p:nvPr>
        </p:nvSpPr>
        <p:spPr/>
        <p:txBody>
          <a:bodyPr/>
          <a:lstStyle/>
          <a:p>
            <a:r>
              <a:rPr lang="en-DE" dirty="0"/>
              <a:t>Plasticity score equations</a:t>
            </a:r>
          </a:p>
        </p:txBody>
      </p:sp>
      <p:sp>
        <p:nvSpPr>
          <p:cNvPr id="3" name="Content Placeholder 2">
            <a:extLst>
              <a:ext uri="{FF2B5EF4-FFF2-40B4-BE49-F238E27FC236}">
                <a16:creationId xmlns:a16="http://schemas.microsoft.com/office/drawing/2014/main" id="{CDC4ABFD-2FC9-E835-9BB3-BB940206BB63}"/>
              </a:ext>
            </a:extLst>
          </p:cNvPr>
          <p:cNvSpPr>
            <a:spLocks noGrp="1"/>
          </p:cNvSpPr>
          <p:nvPr>
            <p:ph idx="1"/>
          </p:nvPr>
        </p:nvSpPr>
        <p:spPr/>
        <p:txBody>
          <a:bodyPr>
            <a:normAutofit lnSpcReduction="10000"/>
          </a:bodyPr>
          <a:lstStyle/>
          <a:p>
            <a:r>
              <a:rPr lang="en-GB" dirty="0"/>
              <a:t>Phenotypic Plasticity Index</a:t>
            </a:r>
          </a:p>
          <a:p>
            <a:r>
              <a:rPr lang="en-GB" dirty="0"/>
              <a:t>Proportional Inter‐Median Difference (</a:t>
            </a:r>
            <a:r>
              <a:rPr lang="en-GB" dirty="0" err="1"/>
              <a:t>PImd</a:t>
            </a:r>
            <a:r>
              <a:rPr lang="en-GB" dirty="0"/>
              <a:t>)</a:t>
            </a:r>
          </a:p>
          <a:p>
            <a:r>
              <a:rPr lang="en-GB" dirty="0"/>
              <a:t>Proportional Inter‐Least Square Mean Difference</a:t>
            </a:r>
          </a:p>
          <a:p>
            <a:r>
              <a:rPr lang="en-GB" dirty="0"/>
              <a:t>Relative Trait Response </a:t>
            </a:r>
          </a:p>
          <a:p>
            <a:r>
              <a:rPr lang="en-GB" dirty="0"/>
              <a:t>Phenotypic Instability Ratio</a:t>
            </a:r>
          </a:p>
          <a:p>
            <a:r>
              <a:rPr lang="en-GB" dirty="0"/>
              <a:t>Relative Distance Plasticity Index</a:t>
            </a:r>
          </a:p>
          <a:p>
            <a:r>
              <a:rPr lang="en-GB" dirty="0"/>
              <a:t> Environmental Sensitivity Performance Index</a:t>
            </a:r>
          </a:p>
          <a:p>
            <a:r>
              <a:rPr lang="en-GB" dirty="0"/>
              <a:t>Environmental Sensitivity Performance Index for Individual Differences</a:t>
            </a:r>
            <a:endParaRPr lang="en-DE" dirty="0"/>
          </a:p>
        </p:txBody>
      </p:sp>
      <p:pic>
        <p:nvPicPr>
          <p:cNvPr id="5" name="Picture 4">
            <a:extLst>
              <a:ext uri="{FF2B5EF4-FFF2-40B4-BE49-F238E27FC236}">
                <a16:creationId xmlns:a16="http://schemas.microsoft.com/office/drawing/2014/main" id="{D2C2FC46-CA93-97D1-DBE7-8232BF5D8CC3}"/>
              </a:ext>
            </a:extLst>
          </p:cNvPr>
          <p:cNvPicPr>
            <a:picLocks noChangeAspect="1"/>
          </p:cNvPicPr>
          <p:nvPr/>
        </p:nvPicPr>
        <p:blipFill>
          <a:blip r:embed="rId2"/>
          <a:stretch>
            <a:fillRect/>
          </a:stretch>
        </p:blipFill>
        <p:spPr>
          <a:xfrm>
            <a:off x="5968721" y="1690689"/>
            <a:ext cx="2230734" cy="511210"/>
          </a:xfrm>
          <a:prstGeom prst="rect">
            <a:avLst/>
          </a:prstGeom>
        </p:spPr>
      </p:pic>
      <p:pic>
        <p:nvPicPr>
          <p:cNvPr id="7" name="Picture 6">
            <a:extLst>
              <a:ext uri="{FF2B5EF4-FFF2-40B4-BE49-F238E27FC236}">
                <a16:creationId xmlns:a16="http://schemas.microsoft.com/office/drawing/2014/main" id="{40B2EA96-EDC2-6F04-7B9A-B4A3253B1446}"/>
              </a:ext>
            </a:extLst>
          </p:cNvPr>
          <p:cNvPicPr>
            <a:picLocks noChangeAspect="1"/>
          </p:cNvPicPr>
          <p:nvPr/>
        </p:nvPicPr>
        <p:blipFill>
          <a:blip r:embed="rId3"/>
          <a:stretch>
            <a:fillRect/>
          </a:stretch>
        </p:blipFill>
        <p:spPr>
          <a:xfrm>
            <a:off x="9436170" y="2828717"/>
            <a:ext cx="1673775" cy="448268"/>
          </a:xfrm>
          <a:prstGeom prst="rect">
            <a:avLst/>
          </a:prstGeom>
        </p:spPr>
      </p:pic>
      <p:pic>
        <p:nvPicPr>
          <p:cNvPr id="9" name="Picture 8">
            <a:extLst>
              <a:ext uri="{FF2B5EF4-FFF2-40B4-BE49-F238E27FC236}">
                <a16:creationId xmlns:a16="http://schemas.microsoft.com/office/drawing/2014/main" id="{406D884D-BAB8-001B-151D-EE84288046B7}"/>
              </a:ext>
            </a:extLst>
          </p:cNvPr>
          <p:cNvPicPr>
            <a:picLocks noChangeAspect="1"/>
          </p:cNvPicPr>
          <p:nvPr/>
        </p:nvPicPr>
        <p:blipFill>
          <a:blip r:embed="rId4"/>
          <a:stretch>
            <a:fillRect/>
          </a:stretch>
        </p:blipFill>
        <p:spPr>
          <a:xfrm>
            <a:off x="5279640" y="3158984"/>
            <a:ext cx="3459168" cy="781102"/>
          </a:xfrm>
          <a:prstGeom prst="rect">
            <a:avLst/>
          </a:prstGeom>
        </p:spPr>
      </p:pic>
      <p:pic>
        <p:nvPicPr>
          <p:cNvPr id="10" name="Picture 9">
            <a:extLst>
              <a:ext uri="{FF2B5EF4-FFF2-40B4-BE49-F238E27FC236}">
                <a16:creationId xmlns:a16="http://schemas.microsoft.com/office/drawing/2014/main" id="{77D72311-E93C-2202-4425-33A31BE6FA76}"/>
              </a:ext>
            </a:extLst>
          </p:cNvPr>
          <p:cNvPicPr>
            <a:picLocks noChangeAspect="1"/>
          </p:cNvPicPr>
          <p:nvPr/>
        </p:nvPicPr>
        <p:blipFill>
          <a:blip r:embed="rId5"/>
          <a:stretch>
            <a:fillRect/>
          </a:stretch>
        </p:blipFill>
        <p:spPr>
          <a:xfrm>
            <a:off x="7175190" y="4001294"/>
            <a:ext cx="3459168" cy="598148"/>
          </a:xfrm>
          <a:prstGeom prst="rect">
            <a:avLst/>
          </a:prstGeom>
        </p:spPr>
      </p:pic>
      <p:pic>
        <p:nvPicPr>
          <p:cNvPr id="11" name="Picture 10">
            <a:extLst>
              <a:ext uri="{FF2B5EF4-FFF2-40B4-BE49-F238E27FC236}">
                <a16:creationId xmlns:a16="http://schemas.microsoft.com/office/drawing/2014/main" id="{8A7BB5DA-458E-30A8-4443-E9377A28C2DC}"/>
              </a:ext>
            </a:extLst>
          </p:cNvPr>
          <p:cNvPicPr>
            <a:picLocks noChangeAspect="1"/>
          </p:cNvPicPr>
          <p:nvPr/>
        </p:nvPicPr>
        <p:blipFill>
          <a:blip r:embed="rId6"/>
          <a:stretch>
            <a:fillRect/>
          </a:stretch>
        </p:blipFill>
        <p:spPr>
          <a:xfrm>
            <a:off x="6318090" y="4533271"/>
            <a:ext cx="2065781" cy="254757"/>
          </a:xfrm>
          <a:prstGeom prst="rect">
            <a:avLst/>
          </a:prstGeom>
        </p:spPr>
      </p:pic>
      <p:pic>
        <p:nvPicPr>
          <p:cNvPr id="13" name="Picture 12">
            <a:extLst>
              <a:ext uri="{FF2B5EF4-FFF2-40B4-BE49-F238E27FC236}">
                <a16:creationId xmlns:a16="http://schemas.microsoft.com/office/drawing/2014/main" id="{D6CB8052-2A32-C585-968D-851ADC148E13}"/>
              </a:ext>
            </a:extLst>
          </p:cNvPr>
          <p:cNvPicPr>
            <a:picLocks noChangeAspect="1"/>
          </p:cNvPicPr>
          <p:nvPr/>
        </p:nvPicPr>
        <p:blipFill>
          <a:blip r:embed="rId7"/>
          <a:stretch>
            <a:fillRect/>
          </a:stretch>
        </p:blipFill>
        <p:spPr>
          <a:xfrm>
            <a:off x="8277112" y="5023465"/>
            <a:ext cx="3335547" cy="239456"/>
          </a:xfrm>
          <a:prstGeom prst="rect">
            <a:avLst/>
          </a:prstGeom>
        </p:spPr>
      </p:pic>
      <p:pic>
        <p:nvPicPr>
          <p:cNvPr id="14" name="Picture 13">
            <a:extLst>
              <a:ext uri="{FF2B5EF4-FFF2-40B4-BE49-F238E27FC236}">
                <a16:creationId xmlns:a16="http://schemas.microsoft.com/office/drawing/2014/main" id="{37E52280-7D85-952A-1177-308C349B3057}"/>
              </a:ext>
            </a:extLst>
          </p:cNvPr>
          <p:cNvPicPr>
            <a:picLocks noChangeAspect="1"/>
          </p:cNvPicPr>
          <p:nvPr/>
        </p:nvPicPr>
        <p:blipFill>
          <a:blip r:embed="rId8"/>
          <a:stretch>
            <a:fillRect/>
          </a:stretch>
        </p:blipFill>
        <p:spPr>
          <a:xfrm>
            <a:off x="3567448" y="5724196"/>
            <a:ext cx="5982729" cy="403596"/>
          </a:xfrm>
          <a:prstGeom prst="rect">
            <a:avLst/>
          </a:prstGeom>
        </p:spPr>
      </p:pic>
      <p:pic>
        <p:nvPicPr>
          <p:cNvPr id="15" name="Picture 14">
            <a:extLst>
              <a:ext uri="{FF2B5EF4-FFF2-40B4-BE49-F238E27FC236}">
                <a16:creationId xmlns:a16="http://schemas.microsoft.com/office/drawing/2014/main" id="{99E42943-CEA3-4814-2311-E9F4562CA8B0}"/>
              </a:ext>
            </a:extLst>
          </p:cNvPr>
          <p:cNvPicPr>
            <a:picLocks noChangeAspect="1"/>
          </p:cNvPicPr>
          <p:nvPr/>
        </p:nvPicPr>
        <p:blipFill>
          <a:blip r:embed="rId9"/>
          <a:stretch>
            <a:fillRect/>
          </a:stretch>
        </p:blipFill>
        <p:spPr>
          <a:xfrm>
            <a:off x="8022293" y="2274383"/>
            <a:ext cx="3590366" cy="293356"/>
          </a:xfrm>
          <a:prstGeom prst="rect">
            <a:avLst/>
          </a:prstGeom>
        </p:spPr>
      </p:pic>
    </p:spTree>
    <p:extLst>
      <p:ext uri="{BB962C8B-B14F-4D97-AF65-F5344CB8AC3E}">
        <p14:creationId xmlns:p14="http://schemas.microsoft.com/office/powerpoint/2010/main" val="779631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FF7B7-6D3C-EA49-5DF3-35651B5F99EC}"/>
              </a:ext>
            </a:extLst>
          </p:cNvPr>
          <p:cNvSpPr>
            <a:spLocks noGrp="1"/>
          </p:cNvSpPr>
          <p:nvPr>
            <p:ph type="title"/>
          </p:nvPr>
        </p:nvSpPr>
        <p:spPr/>
        <p:txBody>
          <a:bodyPr/>
          <a:lstStyle/>
          <a:p>
            <a:r>
              <a:rPr lang="en-DE" dirty="0"/>
              <a:t>Plasticity score equations</a:t>
            </a:r>
          </a:p>
        </p:txBody>
      </p:sp>
      <p:sp>
        <p:nvSpPr>
          <p:cNvPr id="3" name="Content Placeholder 2">
            <a:extLst>
              <a:ext uri="{FF2B5EF4-FFF2-40B4-BE49-F238E27FC236}">
                <a16:creationId xmlns:a16="http://schemas.microsoft.com/office/drawing/2014/main" id="{3C94B75E-F401-6201-05E2-075994CF3E3D}"/>
              </a:ext>
            </a:extLst>
          </p:cNvPr>
          <p:cNvSpPr>
            <a:spLocks noGrp="1"/>
          </p:cNvSpPr>
          <p:nvPr>
            <p:ph idx="1"/>
          </p:nvPr>
        </p:nvSpPr>
        <p:spPr/>
        <p:txBody>
          <a:bodyPr>
            <a:normAutofit lnSpcReduction="10000"/>
          </a:bodyPr>
          <a:lstStyle/>
          <a:p>
            <a:r>
              <a:rPr lang="en-GB" dirty="0"/>
              <a:t>Phenotypic Stability Index </a:t>
            </a:r>
          </a:p>
          <a:p>
            <a:r>
              <a:rPr lang="en-GB" dirty="0"/>
              <a:t>Relative Plasticity Index</a:t>
            </a:r>
          </a:p>
          <a:p>
            <a:r>
              <a:rPr lang="en-GB" dirty="0"/>
              <a:t>Plasticity Quotient</a:t>
            </a:r>
          </a:p>
          <a:p>
            <a:r>
              <a:rPr lang="en-GB" dirty="0"/>
              <a:t>Phenotypic Range </a:t>
            </a:r>
          </a:p>
          <a:p>
            <a:r>
              <a:rPr lang="en-GB" dirty="0"/>
              <a:t>Norm of Reaction Width</a:t>
            </a:r>
          </a:p>
          <a:p>
            <a:r>
              <a:rPr lang="en-GB" dirty="0"/>
              <a:t>Environment‐Specific Plasticity</a:t>
            </a:r>
          </a:p>
          <a:p>
            <a:r>
              <a:rPr lang="en-GB" dirty="0"/>
              <a:t>Coefficient of Environmental Variation</a:t>
            </a:r>
          </a:p>
          <a:p>
            <a:r>
              <a:rPr lang="en-GB" dirty="0"/>
              <a:t>Phenotypic Flexibility Index</a:t>
            </a:r>
          </a:p>
          <a:p>
            <a:r>
              <a:rPr lang="en-GB" dirty="0"/>
              <a:t> Absolute Plasticity Coefficient</a:t>
            </a:r>
          </a:p>
          <a:p>
            <a:endParaRPr lang="en-DE" dirty="0"/>
          </a:p>
        </p:txBody>
      </p:sp>
      <p:pic>
        <p:nvPicPr>
          <p:cNvPr id="4" name="Picture 3">
            <a:extLst>
              <a:ext uri="{FF2B5EF4-FFF2-40B4-BE49-F238E27FC236}">
                <a16:creationId xmlns:a16="http://schemas.microsoft.com/office/drawing/2014/main" id="{76CA96E1-9C68-F9BF-5E74-FC0B5FB26980}"/>
              </a:ext>
            </a:extLst>
          </p:cNvPr>
          <p:cNvPicPr>
            <a:picLocks noChangeAspect="1"/>
          </p:cNvPicPr>
          <p:nvPr/>
        </p:nvPicPr>
        <p:blipFill>
          <a:blip r:embed="rId2"/>
          <a:stretch>
            <a:fillRect/>
          </a:stretch>
        </p:blipFill>
        <p:spPr>
          <a:xfrm>
            <a:off x="5600700" y="1620218"/>
            <a:ext cx="3933825" cy="663208"/>
          </a:xfrm>
          <a:prstGeom prst="rect">
            <a:avLst/>
          </a:prstGeom>
        </p:spPr>
      </p:pic>
      <p:pic>
        <p:nvPicPr>
          <p:cNvPr id="5" name="Picture 4">
            <a:extLst>
              <a:ext uri="{FF2B5EF4-FFF2-40B4-BE49-F238E27FC236}">
                <a16:creationId xmlns:a16="http://schemas.microsoft.com/office/drawing/2014/main" id="{7710D605-7B62-B83E-5E90-F12E096A60BA}"/>
              </a:ext>
            </a:extLst>
          </p:cNvPr>
          <p:cNvPicPr>
            <a:picLocks noChangeAspect="1"/>
          </p:cNvPicPr>
          <p:nvPr/>
        </p:nvPicPr>
        <p:blipFill>
          <a:blip r:embed="rId3"/>
          <a:stretch>
            <a:fillRect/>
          </a:stretch>
        </p:blipFill>
        <p:spPr>
          <a:xfrm>
            <a:off x="5076911" y="2386016"/>
            <a:ext cx="3282435" cy="559765"/>
          </a:xfrm>
          <a:prstGeom prst="rect">
            <a:avLst/>
          </a:prstGeom>
        </p:spPr>
      </p:pic>
      <p:pic>
        <p:nvPicPr>
          <p:cNvPr id="6" name="Picture 5">
            <a:extLst>
              <a:ext uri="{FF2B5EF4-FFF2-40B4-BE49-F238E27FC236}">
                <a16:creationId xmlns:a16="http://schemas.microsoft.com/office/drawing/2014/main" id="{6FA1F25C-93DA-BC48-9EBF-64654FB17056}"/>
              </a:ext>
            </a:extLst>
          </p:cNvPr>
          <p:cNvPicPr>
            <a:picLocks noChangeAspect="1"/>
          </p:cNvPicPr>
          <p:nvPr/>
        </p:nvPicPr>
        <p:blipFill>
          <a:blip r:embed="rId4"/>
          <a:stretch>
            <a:fillRect/>
          </a:stretch>
        </p:blipFill>
        <p:spPr>
          <a:xfrm>
            <a:off x="4167922" y="2874624"/>
            <a:ext cx="2550206" cy="412188"/>
          </a:xfrm>
          <a:prstGeom prst="rect">
            <a:avLst/>
          </a:prstGeom>
        </p:spPr>
      </p:pic>
      <p:pic>
        <p:nvPicPr>
          <p:cNvPr id="7" name="Picture 6">
            <a:extLst>
              <a:ext uri="{FF2B5EF4-FFF2-40B4-BE49-F238E27FC236}">
                <a16:creationId xmlns:a16="http://schemas.microsoft.com/office/drawing/2014/main" id="{37F87E15-7EDF-DCD9-5A79-653C818E59DD}"/>
              </a:ext>
            </a:extLst>
          </p:cNvPr>
          <p:cNvPicPr>
            <a:picLocks noChangeAspect="1"/>
          </p:cNvPicPr>
          <p:nvPr/>
        </p:nvPicPr>
        <p:blipFill>
          <a:blip r:embed="rId5"/>
          <a:stretch>
            <a:fillRect/>
          </a:stretch>
        </p:blipFill>
        <p:spPr>
          <a:xfrm>
            <a:off x="4279653" y="3429000"/>
            <a:ext cx="3287959" cy="262337"/>
          </a:xfrm>
          <a:prstGeom prst="rect">
            <a:avLst/>
          </a:prstGeom>
        </p:spPr>
      </p:pic>
      <p:pic>
        <p:nvPicPr>
          <p:cNvPr id="8" name="Picture 7">
            <a:extLst>
              <a:ext uri="{FF2B5EF4-FFF2-40B4-BE49-F238E27FC236}">
                <a16:creationId xmlns:a16="http://schemas.microsoft.com/office/drawing/2014/main" id="{B56588E2-A05B-8C1B-D37B-89D6F0086C96}"/>
              </a:ext>
            </a:extLst>
          </p:cNvPr>
          <p:cNvPicPr>
            <a:picLocks noChangeAspect="1"/>
          </p:cNvPicPr>
          <p:nvPr/>
        </p:nvPicPr>
        <p:blipFill>
          <a:blip r:embed="rId6"/>
          <a:stretch>
            <a:fillRect/>
          </a:stretch>
        </p:blipFill>
        <p:spPr>
          <a:xfrm>
            <a:off x="5310026" y="3950033"/>
            <a:ext cx="2816204" cy="280161"/>
          </a:xfrm>
          <a:prstGeom prst="rect">
            <a:avLst/>
          </a:prstGeom>
        </p:spPr>
      </p:pic>
      <p:pic>
        <p:nvPicPr>
          <p:cNvPr id="9" name="Picture 8">
            <a:extLst>
              <a:ext uri="{FF2B5EF4-FFF2-40B4-BE49-F238E27FC236}">
                <a16:creationId xmlns:a16="http://schemas.microsoft.com/office/drawing/2014/main" id="{380EAA63-0E2A-C5FA-939F-FEF88F91744F}"/>
              </a:ext>
            </a:extLst>
          </p:cNvPr>
          <p:cNvPicPr>
            <a:picLocks noChangeAspect="1"/>
          </p:cNvPicPr>
          <p:nvPr/>
        </p:nvPicPr>
        <p:blipFill>
          <a:blip r:embed="rId7"/>
          <a:stretch>
            <a:fillRect/>
          </a:stretch>
        </p:blipFill>
        <p:spPr>
          <a:xfrm>
            <a:off x="6082179" y="4472244"/>
            <a:ext cx="3669957" cy="259643"/>
          </a:xfrm>
          <a:prstGeom prst="rect">
            <a:avLst/>
          </a:prstGeom>
        </p:spPr>
      </p:pic>
      <p:pic>
        <p:nvPicPr>
          <p:cNvPr id="12" name="Picture 11">
            <a:extLst>
              <a:ext uri="{FF2B5EF4-FFF2-40B4-BE49-F238E27FC236}">
                <a16:creationId xmlns:a16="http://schemas.microsoft.com/office/drawing/2014/main" id="{63DDEF41-3CA6-E8C1-0CB5-55EB2151A5F6}"/>
              </a:ext>
            </a:extLst>
          </p:cNvPr>
          <p:cNvPicPr>
            <a:picLocks noChangeAspect="1"/>
          </p:cNvPicPr>
          <p:nvPr/>
        </p:nvPicPr>
        <p:blipFill>
          <a:blip r:embed="rId8"/>
          <a:stretch>
            <a:fillRect/>
          </a:stretch>
        </p:blipFill>
        <p:spPr>
          <a:xfrm>
            <a:off x="7162045" y="4877476"/>
            <a:ext cx="4191755" cy="411853"/>
          </a:xfrm>
          <a:prstGeom prst="rect">
            <a:avLst/>
          </a:prstGeom>
        </p:spPr>
      </p:pic>
      <p:pic>
        <p:nvPicPr>
          <p:cNvPr id="14" name="Picture 13">
            <a:extLst>
              <a:ext uri="{FF2B5EF4-FFF2-40B4-BE49-F238E27FC236}">
                <a16:creationId xmlns:a16="http://schemas.microsoft.com/office/drawing/2014/main" id="{B1452F71-3E38-A5A7-32C5-B615BD4FC932}"/>
              </a:ext>
            </a:extLst>
          </p:cNvPr>
          <p:cNvPicPr>
            <a:picLocks noChangeAspect="1"/>
          </p:cNvPicPr>
          <p:nvPr/>
        </p:nvPicPr>
        <p:blipFill>
          <a:blip r:embed="rId9"/>
          <a:stretch>
            <a:fillRect/>
          </a:stretch>
        </p:blipFill>
        <p:spPr>
          <a:xfrm>
            <a:off x="5516655" y="5197522"/>
            <a:ext cx="3485106" cy="311406"/>
          </a:xfrm>
          <a:prstGeom prst="rect">
            <a:avLst/>
          </a:prstGeom>
        </p:spPr>
      </p:pic>
      <p:pic>
        <p:nvPicPr>
          <p:cNvPr id="17" name="Picture 16">
            <a:extLst>
              <a:ext uri="{FF2B5EF4-FFF2-40B4-BE49-F238E27FC236}">
                <a16:creationId xmlns:a16="http://schemas.microsoft.com/office/drawing/2014/main" id="{88508128-24C7-06D4-5755-FFC5774DFC3C}"/>
              </a:ext>
            </a:extLst>
          </p:cNvPr>
          <p:cNvPicPr>
            <a:picLocks noChangeAspect="1"/>
          </p:cNvPicPr>
          <p:nvPr/>
        </p:nvPicPr>
        <p:blipFill>
          <a:blip r:embed="rId10"/>
          <a:stretch>
            <a:fillRect/>
          </a:stretch>
        </p:blipFill>
        <p:spPr>
          <a:xfrm>
            <a:off x="6096000" y="5589283"/>
            <a:ext cx="5364480" cy="331362"/>
          </a:xfrm>
          <a:prstGeom prst="rect">
            <a:avLst/>
          </a:prstGeom>
        </p:spPr>
      </p:pic>
    </p:spTree>
    <p:extLst>
      <p:ext uri="{BB962C8B-B14F-4D97-AF65-F5344CB8AC3E}">
        <p14:creationId xmlns:p14="http://schemas.microsoft.com/office/powerpoint/2010/main" val="3158443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A93F5-8E1F-43F8-6A20-9705C71A01F2}"/>
              </a:ext>
            </a:extLst>
          </p:cNvPr>
          <p:cNvSpPr>
            <a:spLocks noGrp="1"/>
          </p:cNvSpPr>
          <p:nvPr>
            <p:ph type="title"/>
          </p:nvPr>
        </p:nvSpPr>
        <p:spPr/>
        <p:txBody>
          <a:bodyPr/>
          <a:lstStyle/>
          <a:p>
            <a:r>
              <a:rPr lang="en-DE" dirty="0"/>
              <a:t>Plasticity score equations</a:t>
            </a:r>
          </a:p>
        </p:txBody>
      </p:sp>
      <p:sp>
        <p:nvSpPr>
          <p:cNvPr id="3" name="Content Placeholder 2">
            <a:extLst>
              <a:ext uri="{FF2B5EF4-FFF2-40B4-BE49-F238E27FC236}">
                <a16:creationId xmlns:a16="http://schemas.microsoft.com/office/drawing/2014/main" id="{B174C590-218B-E30E-BA35-E6DF32710420}"/>
              </a:ext>
            </a:extLst>
          </p:cNvPr>
          <p:cNvSpPr>
            <a:spLocks noGrp="1"/>
          </p:cNvSpPr>
          <p:nvPr>
            <p:ph idx="1"/>
          </p:nvPr>
        </p:nvSpPr>
        <p:spPr/>
        <p:txBody>
          <a:bodyPr/>
          <a:lstStyle/>
          <a:p>
            <a:r>
              <a:rPr lang="en-GB" dirty="0"/>
              <a:t>Stability Index</a:t>
            </a:r>
          </a:p>
          <a:p>
            <a:r>
              <a:rPr lang="en-GB" dirty="0"/>
              <a:t>Relative Stability Index</a:t>
            </a:r>
          </a:p>
          <a:p>
            <a:r>
              <a:rPr lang="en-GB" dirty="0"/>
              <a:t>Environmental Variance Sensitivity  </a:t>
            </a:r>
          </a:p>
          <a:p>
            <a:endParaRPr lang="en-DE" dirty="0"/>
          </a:p>
        </p:txBody>
      </p:sp>
      <p:pic>
        <p:nvPicPr>
          <p:cNvPr id="4" name="Picture 3">
            <a:extLst>
              <a:ext uri="{FF2B5EF4-FFF2-40B4-BE49-F238E27FC236}">
                <a16:creationId xmlns:a16="http://schemas.microsoft.com/office/drawing/2014/main" id="{31BAC807-8305-DDDD-9662-B37FC0F7628A}"/>
              </a:ext>
            </a:extLst>
          </p:cNvPr>
          <p:cNvPicPr>
            <a:picLocks noChangeAspect="1"/>
          </p:cNvPicPr>
          <p:nvPr/>
        </p:nvPicPr>
        <p:blipFill>
          <a:blip r:embed="rId2"/>
          <a:stretch>
            <a:fillRect/>
          </a:stretch>
        </p:blipFill>
        <p:spPr>
          <a:xfrm>
            <a:off x="3869741" y="1882330"/>
            <a:ext cx="3825849" cy="231535"/>
          </a:xfrm>
          <a:prstGeom prst="rect">
            <a:avLst/>
          </a:prstGeom>
        </p:spPr>
      </p:pic>
      <p:pic>
        <p:nvPicPr>
          <p:cNvPr id="5" name="Picture 4">
            <a:extLst>
              <a:ext uri="{FF2B5EF4-FFF2-40B4-BE49-F238E27FC236}">
                <a16:creationId xmlns:a16="http://schemas.microsoft.com/office/drawing/2014/main" id="{FCEC7072-50D6-44C9-59CB-A6D5573DD2EF}"/>
              </a:ext>
            </a:extLst>
          </p:cNvPr>
          <p:cNvPicPr>
            <a:picLocks noChangeAspect="1"/>
          </p:cNvPicPr>
          <p:nvPr/>
        </p:nvPicPr>
        <p:blipFill>
          <a:blip r:embed="rId3"/>
          <a:stretch>
            <a:fillRect/>
          </a:stretch>
        </p:blipFill>
        <p:spPr>
          <a:xfrm>
            <a:off x="4991548" y="2429281"/>
            <a:ext cx="3603812" cy="260307"/>
          </a:xfrm>
          <a:prstGeom prst="rect">
            <a:avLst/>
          </a:prstGeom>
        </p:spPr>
      </p:pic>
      <p:pic>
        <p:nvPicPr>
          <p:cNvPr id="6" name="Picture 5">
            <a:extLst>
              <a:ext uri="{FF2B5EF4-FFF2-40B4-BE49-F238E27FC236}">
                <a16:creationId xmlns:a16="http://schemas.microsoft.com/office/drawing/2014/main" id="{81A9B4B8-C678-2672-4C20-9541D4F97363}"/>
              </a:ext>
            </a:extLst>
          </p:cNvPr>
          <p:cNvPicPr>
            <a:picLocks noChangeAspect="1"/>
          </p:cNvPicPr>
          <p:nvPr/>
        </p:nvPicPr>
        <p:blipFill>
          <a:blip r:embed="rId4"/>
          <a:stretch>
            <a:fillRect/>
          </a:stretch>
        </p:blipFill>
        <p:spPr>
          <a:xfrm>
            <a:off x="6683433" y="2936480"/>
            <a:ext cx="4803289" cy="263627"/>
          </a:xfrm>
          <a:prstGeom prst="rect">
            <a:avLst/>
          </a:prstGeom>
        </p:spPr>
      </p:pic>
    </p:spTree>
    <p:extLst>
      <p:ext uri="{BB962C8B-B14F-4D97-AF65-F5344CB8AC3E}">
        <p14:creationId xmlns:p14="http://schemas.microsoft.com/office/powerpoint/2010/main" val="14483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D8916-F2F5-A3C9-7811-8050C740F026}"/>
              </a:ext>
            </a:extLst>
          </p:cNvPr>
          <p:cNvSpPr>
            <a:spLocks noGrp="1"/>
          </p:cNvSpPr>
          <p:nvPr>
            <p:ph type="title"/>
          </p:nvPr>
        </p:nvSpPr>
        <p:spPr/>
        <p:txBody>
          <a:bodyPr/>
          <a:lstStyle/>
          <a:p>
            <a:r>
              <a:rPr lang="en-GB" dirty="0"/>
              <a:t>Realisation and clustering of plasticity-score patterns in simulated data</a:t>
            </a:r>
            <a:endParaRPr lang="en-DE" dirty="0"/>
          </a:p>
        </p:txBody>
      </p:sp>
      <p:pic>
        <p:nvPicPr>
          <p:cNvPr id="5" name="Content Placeholder 4">
            <a:extLst>
              <a:ext uri="{FF2B5EF4-FFF2-40B4-BE49-F238E27FC236}">
                <a16:creationId xmlns:a16="http://schemas.microsoft.com/office/drawing/2014/main" id="{C2068157-587F-712D-8F0E-9C9C27A3D7BE}"/>
              </a:ext>
            </a:extLst>
          </p:cNvPr>
          <p:cNvPicPr>
            <a:picLocks noGrp="1" noChangeAspect="1"/>
          </p:cNvPicPr>
          <p:nvPr>
            <p:ph idx="1"/>
          </p:nvPr>
        </p:nvPicPr>
        <p:blipFill>
          <a:blip r:embed="rId2"/>
          <a:stretch>
            <a:fillRect/>
          </a:stretch>
        </p:blipFill>
        <p:spPr>
          <a:xfrm>
            <a:off x="550528" y="1925378"/>
            <a:ext cx="3626115" cy="4351338"/>
          </a:xfrm>
        </p:spPr>
      </p:pic>
      <p:sp>
        <p:nvSpPr>
          <p:cNvPr id="9" name="TextBox 8">
            <a:extLst>
              <a:ext uri="{FF2B5EF4-FFF2-40B4-BE49-F238E27FC236}">
                <a16:creationId xmlns:a16="http://schemas.microsoft.com/office/drawing/2014/main" id="{54EF4765-B9AA-B184-56E7-0550BDF0C362}"/>
              </a:ext>
            </a:extLst>
          </p:cNvPr>
          <p:cNvSpPr txBox="1"/>
          <p:nvPr/>
        </p:nvSpPr>
        <p:spPr>
          <a:xfrm>
            <a:off x="4827617" y="2546617"/>
            <a:ext cx="6097384" cy="3293209"/>
          </a:xfrm>
          <a:prstGeom prst="rect">
            <a:avLst/>
          </a:prstGeom>
          <a:noFill/>
        </p:spPr>
        <p:txBody>
          <a:bodyPr wrap="square">
            <a:spAutoFit/>
          </a:bodyPr>
          <a:lstStyle/>
          <a:p>
            <a:pPr marL="342900" indent="-342900" algn="just">
              <a:buAutoNum type="alphaUcParenBoth"/>
            </a:pPr>
            <a:r>
              <a:rPr lang="en-DE" sz="1600" dirty="0"/>
              <a:t>Boxplots of the 27 plasticity scores, aggregated over all genotype forms, for a resolution of five equidistant measurements along a tenstep environmental gradient, showing medians, interquartile ranges, and outliers. </a:t>
            </a:r>
          </a:p>
          <a:p>
            <a:pPr marL="342900" indent="-342900" algn="just">
              <a:buAutoNum type="alphaUcParenBoth"/>
            </a:pPr>
            <a:r>
              <a:rPr lang="en-DE" sz="1600" dirty="0"/>
              <a:t>Hierarchical clustering of the plasticity-score realisations for the linear genotype form, using correlation distance; despite differences in form, the clustering structures between different genotype forms are highly concordant. </a:t>
            </a:r>
          </a:p>
          <a:p>
            <a:pPr marL="342900" indent="-342900" algn="just">
              <a:buAutoNum type="alphaUcParenBoth"/>
            </a:pPr>
            <a:r>
              <a:rPr lang="en-DE" sz="1600" dirty="0"/>
              <a:t>Adjusted Rand Index for pairwise comparisons of the clustering solutions, quantifying the agreement between genotype-specific and combined clusterings. Distributions and clusterings were obtained using a sampling size of 5 equidistant samples on the environmental spectrum.</a:t>
            </a:r>
          </a:p>
        </p:txBody>
      </p:sp>
    </p:spTree>
    <p:extLst>
      <p:ext uri="{BB962C8B-B14F-4D97-AF65-F5344CB8AC3E}">
        <p14:creationId xmlns:p14="http://schemas.microsoft.com/office/powerpoint/2010/main" val="2541088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D2C98-6164-03CB-9F8F-22D31C958D22}"/>
              </a:ext>
            </a:extLst>
          </p:cNvPr>
          <p:cNvSpPr>
            <a:spLocks noGrp="1"/>
          </p:cNvSpPr>
          <p:nvPr>
            <p:ph type="title"/>
          </p:nvPr>
        </p:nvSpPr>
        <p:spPr/>
        <p:txBody>
          <a:bodyPr/>
          <a:lstStyle/>
          <a:p>
            <a:r>
              <a:rPr lang="en-GB" dirty="0"/>
              <a:t>Realisation of plasticity-score in simulated data</a:t>
            </a:r>
            <a:endParaRPr lang="en-DE" dirty="0"/>
          </a:p>
        </p:txBody>
      </p:sp>
      <p:pic>
        <p:nvPicPr>
          <p:cNvPr id="10" name="Content Placeholder 9">
            <a:extLst>
              <a:ext uri="{FF2B5EF4-FFF2-40B4-BE49-F238E27FC236}">
                <a16:creationId xmlns:a16="http://schemas.microsoft.com/office/drawing/2014/main" id="{91DE8DB7-9792-15A0-CEBB-CC7387511046}"/>
              </a:ext>
            </a:extLst>
          </p:cNvPr>
          <p:cNvPicPr>
            <a:picLocks noGrp="1" noChangeAspect="1"/>
          </p:cNvPicPr>
          <p:nvPr>
            <p:ph idx="1"/>
          </p:nvPr>
        </p:nvPicPr>
        <p:blipFill>
          <a:blip r:embed="rId2"/>
          <a:stretch>
            <a:fillRect/>
          </a:stretch>
        </p:blipFill>
        <p:spPr>
          <a:xfrm>
            <a:off x="838200" y="1815770"/>
            <a:ext cx="6014545" cy="4811637"/>
          </a:xfrm>
        </p:spPr>
      </p:pic>
      <p:sp>
        <p:nvSpPr>
          <p:cNvPr id="11" name="TextBox 10">
            <a:extLst>
              <a:ext uri="{FF2B5EF4-FFF2-40B4-BE49-F238E27FC236}">
                <a16:creationId xmlns:a16="http://schemas.microsoft.com/office/drawing/2014/main" id="{97799E50-3BBA-5132-89EC-692CDDB45F17}"/>
              </a:ext>
            </a:extLst>
          </p:cNvPr>
          <p:cNvSpPr txBox="1"/>
          <p:nvPr/>
        </p:nvSpPr>
        <p:spPr>
          <a:xfrm>
            <a:off x="7031422" y="3429000"/>
            <a:ext cx="4845269" cy="1323439"/>
          </a:xfrm>
          <a:prstGeom prst="rect">
            <a:avLst/>
          </a:prstGeom>
          <a:noFill/>
        </p:spPr>
        <p:txBody>
          <a:bodyPr wrap="square" rtlCol="0">
            <a:spAutoFit/>
          </a:bodyPr>
          <a:lstStyle/>
          <a:p>
            <a:pPr algn="just"/>
            <a:r>
              <a:rPr lang="en-GB" sz="1600" dirty="0"/>
              <a:t>Boxplots of the 27 plasticity scores, aggregated over all genotype forms, for a resolution of five equidistant measurements along a ten step environmental gradient, showing medians, interquartile ranges, and outliers. </a:t>
            </a:r>
            <a:endParaRPr lang="en-DE" sz="1600" dirty="0"/>
          </a:p>
        </p:txBody>
      </p:sp>
    </p:spTree>
    <p:extLst>
      <p:ext uri="{BB962C8B-B14F-4D97-AF65-F5344CB8AC3E}">
        <p14:creationId xmlns:p14="http://schemas.microsoft.com/office/powerpoint/2010/main" val="1442132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90E42-E182-5624-2E7E-1C80BB93F477}"/>
              </a:ext>
            </a:extLst>
          </p:cNvPr>
          <p:cNvSpPr>
            <a:spLocks noGrp="1"/>
          </p:cNvSpPr>
          <p:nvPr>
            <p:ph type="title"/>
          </p:nvPr>
        </p:nvSpPr>
        <p:spPr>
          <a:xfrm>
            <a:off x="618796" y="249511"/>
            <a:ext cx="10954407" cy="1325563"/>
          </a:xfrm>
        </p:spPr>
        <p:txBody>
          <a:bodyPr/>
          <a:lstStyle/>
          <a:p>
            <a:r>
              <a:rPr lang="en-GB" dirty="0"/>
              <a:t>Clustering of plasticity-score in simulated data</a:t>
            </a:r>
            <a:endParaRPr lang="en-DE" dirty="0"/>
          </a:p>
        </p:txBody>
      </p:sp>
      <p:pic>
        <p:nvPicPr>
          <p:cNvPr id="31" name="Content Placeholder 30">
            <a:extLst>
              <a:ext uri="{FF2B5EF4-FFF2-40B4-BE49-F238E27FC236}">
                <a16:creationId xmlns:a16="http://schemas.microsoft.com/office/drawing/2014/main" id="{034B123E-F685-0995-4F7A-EEC27D2FBFF5}"/>
              </a:ext>
            </a:extLst>
          </p:cNvPr>
          <p:cNvPicPr>
            <a:picLocks noGrp="1" noChangeAspect="1"/>
          </p:cNvPicPr>
          <p:nvPr>
            <p:ph idx="1"/>
          </p:nvPr>
        </p:nvPicPr>
        <p:blipFill>
          <a:blip r:embed="rId2"/>
          <a:stretch>
            <a:fillRect/>
          </a:stretch>
        </p:blipFill>
        <p:spPr>
          <a:xfrm>
            <a:off x="838200" y="1773067"/>
            <a:ext cx="6356166" cy="5084933"/>
          </a:xfrm>
        </p:spPr>
      </p:pic>
      <p:pic>
        <p:nvPicPr>
          <p:cNvPr id="39" name="Picture 38">
            <a:extLst>
              <a:ext uri="{FF2B5EF4-FFF2-40B4-BE49-F238E27FC236}">
                <a16:creationId xmlns:a16="http://schemas.microsoft.com/office/drawing/2014/main" id="{B5A3EACE-B28D-2E1F-669E-79006AFA71DB}"/>
              </a:ext>
            </a:extLst>
          </p:cNvPr>
          <p:cNvPicPr>
            <a:picLocks noChangeAspect="1"/>
          </p:cNvPicPr>
          <p:nvPr/>
        </p:nvPicPr>
        <p:blipFill>
          <a:blip r:embed="rId3"/>
          <a:stretch>
            <a:fillRect/>
          </a:stretch>
        </p:blipFill>
        <p:spPr>
          <a:xfrm>
            <a:off x="7696199" y="2278117"/>
            <a:ext cx="3781098" cy="3781098"/>
          </a:xfrm>
          <a:prstGeom prst="rect">
            <a:avLst/>
          </a:prstGeom>
        </p:spPr>
      </p:pic>
    </p:spTree>
    <p:extLst>
      <p:ext uri="{BB962C8B-B14F-4D97-AF65-F5344CB8AC3E}">
        <p14:creationId xmlns:p14="http://schemas.microsoft.com/office/powerpoint/2010/main" val="2023700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19B4B-0395-BFE8-B6DA-E65C5B329AE5}"/>
              </a:ext>
            </a:extLst>
          </p:cNvPr>
          <p:cNvSpPr>
            <a:spLocks noGrp="1"/>
          </p:cNvSpPr>
          <p:nvPr>
            <p:ph type="title"/>
          </p:nvPr>
        </p:nvSpPr>
        <p:spPr/>
        <p:txBody>
          <a:bodyPr>
            <a:normAutofit fontScale="90000"/>
          </a:bodyPr>
          <a:lstStyle/>
          <a:p>
            <a:r>
              <a:rPr lang="en-GB" dirty="0"/>
              <a:t>Hierarchical clustering of plasticity-score correlation distances by genotype response type.</a:t>
            </a:r>
            <a:endParaRPr lang="en-DE" dirty="0"/>
          </a:p>
        </p:txBody>
      </p:sp>
      <p:sp>
        <p:nvSpPr>
          <p:cNvPr id="6" name="TextBox 5">
            <a:extLst>
              <a:ext uri="{FF2B5EF4-FFF2-40B4-BE49-F238E27FC236}">
                <a16:creationId xmlns:a16="http://schemas.microsoft.com/office/drawing/2014/main" id="{BDB6773B-BB69-C542-D3B0-953A1044B8B0}"/>
              </a:ext>
            </a:extLst>
          </p:cNvPr>
          <p:cNvSpPr txBox="1"/>
          <p:nvPr/>
        </p:nvSpPr>
        <p:spPr>
          <a:xfrm>
            <a:off x="6640484" y="2892828"/>
            <a:ext cx="4713316" cy="2862322"/>
          </a:xfrm>
          <a:prstGeom prst="rect">
            <a:avLst/>
          </a:prstGeom>
          <a:noFill/>
        </p:spPr>
        <p:txBody>
          <a:bodyPr wrap="square" rtlCol="0">
            <a:spAutoFit/>
          </a:bodyPr>
          <a:lstStyle/>
          <a:p>
            <a:r>
              <a:rPr lang="en-GB" dirty="0"/>
              <a:t>Dendrograms show complete-linkage clustering of plasticity indices based on their correlation distances, separately for (A) Gaussian, (B) Sinusoidal, and (C) Wave reaction-norm shapes, as well as (D) all shapes combined. Despite differing underlying genotype forms, the same clusters of plasticity scores emerge in each panel, indicating robust grouping of indices by their summary-statistic signatures.</a:t>
            </a:r>
            <a:endParaRPr lang="en-DE" dirty="0"/>
          </a:p>
        </p:txBody>
      </p:sp>
      <p:pic>
        <p:nvPicPr>
          <p:cNvPr id="18" name="Content Placeholder 17">
            <a:extLst>
              <a:ext uri="{FF2B5EF4-FFF2-40B4-BE49-F238E27FC236}">
                <a16:creationId xmlns:a16="http://schemas.microsoft.com/office/drawing/2014/main" id="{7359A87C-D0BF-C9E2-4728-4F5843ECC9F1}"/>
              </a:ext>
            </a:extLst>
          </p:cNvPr>
          <p:cNvPicPr>
            <a:picLocks noGrp="1" noChangeAspect="1"/>
          </p:cNvPicPr>
          <p:nvPr>
            <p:ph idx="1"/>
          </p:nvPr>
        </p:nvPicPr>
        <p:blipFill>
          <a:blip r:embed="rId2"/>
          <a:stretch>
            <a:fillRect/>
          </a:stretch>
        </p:blipFill>
        <p:spPr>
          <a:xfrm>
            <a:off x="530743" y="1950316"/>
            <a:ext cx="5020774" cy="4351338"/>
          </a:xfrm>
        </p:spPr>
      </p:pic>
    </p:spTree>
    <p:extLst>
      <p:ext uri="{BB962C8B-B14F-4D97-AF65-F5344CB8AC3E}">
        <p14:creationId xmlns:p14="http://schemas.microsoft.com/office/powerpoint/2010/main" val="2582920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D9E80-D85A-D622-4BBC-76DC410ADDE0}"/>
              </a:ext>
            </a:extLst>
          </p:cNvPr>
          <p:cNvSpPr>
            <a:spLocks noGrp="1"/>
          </p:cNvSpPr>
          <p:nvPr>
            <p:ph type="title"/>
          </p:nvPr>
        </p:nvSpPr>
        <p:spPr>
          <a:xfrm>
            <a:off x="838199" y="239001"/>
            <a:ext cx="10515600" cy="1325563"/>
          </a:xfrm>
        </p:spPr>
        <p:txBody>
          <a:bodyPr/>
          <a:lstStyle/>
          <a:p>
            <a:r>
              <a:rPr lang="en-GB" dirty="0"/>
              <a:t>Links between trait-distribution statistics and plasticity indices</a:t>
            </a:r>
            <a:endParaRPr lang="en-DE" dirty="0"/>
          </a:p>
        </p:txBody>
      </p:sp>
      <p:pic>
        <p:nvPicPr>
          <p:cNvPr id="5" name="Content Placeholder 4">
            <a:extLst>
              <a:ext uri="{FF2B5EF4-FFF2-40B4-BE49-F238E27FC236}">
                <a16:creationId xmlns:a16="http://schemas.microsoft.com/office/drawing/2014/main" id="{0FE801B7-DF55-1A75-F5EF-395762FF4C48}"/>
              </a:ext>
            </a:extLst>
          </p:cNvPr>
          <p:cNvPicPr>
            <a:picLocks noGrp="1" noChangeAspect="1"/>
          </p:cNvPicPr>
          <p:nvPr>
            <p:ph idx="1"/>
          </p:nvPr>
        </p:nvPicPr>
        <p:blipFill>
          <a:blip r:embed="rId2"/>
          <a:stretch>
            <a:fillRect/>
          </a:stretch>
        </p:blipFill>
        <p:spPr>
          <a:xfrm>
            <a:off x="838199" y="1718414"/>
            <a:ext cx="5139586" cy="5139586"/>
          </a:xfr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70EF366-A0C1-A330-1772-489D79564D63}"/>
                  </a:ext>
                </a:extLst>
              </p:cNvPr>
              <p:cNvSpPr txBox="1"/>
              <p:nvPr/>
            </p:nvSpPr>
            <p:spPr>
              <a:xfrm>
                <a:off x="6319320" y="2527495"/>
                <a:ext cx="5538951" cy="3046988"/>
              </a:xfrm>
              <a:prstGeom prst="rect">
                <a:avLst/>
              </a:prstGeom>
              <a:noFill/>
            </p:spPr>
            <p:txBody>
              <a:bodyPr wrap="square" rtlCol="0">
                <a:spAutoFit/>
              </a:bodyPr>
              <a:lstStyle/>
              <a:p>
                <a:pPr marL="342900" indent="-342900" algn="just">
                  <a:buAutoNum type="alphaUcParenBoth"/>
                </a:pPr>
                <a:r>
                  <a:rPr lang="en-GB" sz="1600" dirty="0"/>
                  <a:t>Alluvial diagram of significant Kendall correlations ( | r | ≥ 0.5) between genotype-level summary statistics (e.g., mean, variance, skewness) and plasticity-score realizations across reaction norms. Opacity of ribbons and strata encodes correlation strength. </a:t>
                </a:r>
              </a:p>
              <a:p>
                <a:pPr marL="342900" indent="-342900" algn="just">
                  <a:buAutoNum type="alphaUcParenBoth"/>
                </a:pPr>
                <a:endParaRPr lang="en-GB" sz="1600" dirty="0"/>
              </a:p>
              <a:p>
                <a:pPr marL="342900" indent="-342900" algn="just">
                  <a:buAutoNum type="alphaUcParenBoth"/>
                </a:pPr>
                <a:r>
                  <a:rPr lang="en-GB" sz="1600" dirty="0"/>
                  <a:t>Single-predictor linear-model coefficients (</a:t>
                </a:r>
                <a14:m>
                  <m:oMath xmlns:m="http://schemas.openxmlformats.org/officeDocument/2006/math">
                    <m:sSub>
                      <m:sSubPr>
                        <m:ctrlPr>
                          <a:rPr lang="en-DE" sz="1600" i="1" smtClean="0">
                            <a:latin typeface="Cambria Math" panose="02040503050406030204" pitchFamily="18" charset="0"/>
                          </a:rPr>
                        </m:ctrlPr>
                      </m:sSubPr>
                      <m:e>
                        <m:r>
                          <a:rPr lang="en-DE" sz="1600" i="1" smtClean="0">
                            <a:latin typeface="Cambria Math" panose="02040503050406030204" pitchFamily="18" charset="0"/>
                            <a:ea typeface="Cambria Math" panose="02040503050406030204" pitchFamily="18" charset="0"/>
                          </a:rPr>
                          <m:t>𝛽</m:t>
                        </m:r>
                      </m:e>
                      <m:sub>
                        <m:r>
                          <a:rPr lang="de-DE" sz="1600" b="0" i="1" smtClean="0">
                            <a:latin typeface="Cambria Math" panose="02040503050406030204" pitchFamily="18" charset="0"/>
                          </a:rPr>
                          <m:t>1</m:t>
                        </m:r>
                      </m:sub>
                    </m:sSub>
                  </m:oMath>
                </a14:m>
                <a:r>
                  <a:rPr lang="el-GR" sz="1600" dirty="0"/>
                  <a:t>) </a:t>
                </a:r>
                <a:r>
                  <a:rPr lang="en-GB" sz="1600" dirty="0"/>
                  <a:t>for each plasticity score vs. each summary statistic. Dot colour and hue indicate coefficient sign and magnitude; dot size reflects precision (inverted CI width relative to the maximum CI width). Significance levels are marked by asterisks: * p &lt; 0.05, ** p &lt; 0.01, *** p &lt; 0.001.</a:t>
                </a:r>
                <a:endParaRPr lang="en-DE" sz="1600" dirty="0"/>
              </a:p>
            </p:txBody>
          </p:sp>
        </mc:Choice>
        <mc:Fallback xmlns="">
          <p:sp>
            <p:nvSpPr>
              <p:cNvPr id="6" name="TextBox 5">
                <a:extLst>
                  <a:ext uri="{FF2B5EF4-FFF2-40B4-BE49-F238E27FC236}">
                    <a16:creationId xmlns:a16="http://schemas.microsoft.com/office/drawing/2014/main" id="{670EF366-A0C1-A330-1772-489D79564D63}"/>
                  </a:ext>
                </a:extLst>
              </p:cNvPr>
              <p:cNvSpPr txBox="1">
                <a:spLocks noRot="1" noChangeAspect="1" noMove="1" noResize="1" noEditPoints="1" noAdjustHandles="1" noChangeArrowheads="1" noChangeShapeType="1" noTextEdit="1"/>
              </p:cNvSpPr>
              <p:nvPr/>
            </p:nvSpPr>
            <p:spPr>
              <a:xfrm>
                <a:off x="6319320" y="2527495"/>
                <a:ext cx="5538951" cy="3046988"/>
              </a:xfrm>
              <a:prstGeom prst="rect">
                <a:avLst/>
              </a:prstGeom>
              <a:blipFill>
                <a:blip r:embed="rId3"/>
                <a:stretch>
                  <a:fillRect l="-686" t="-833" r="-686" b="-1667"/>
                </a:stretch>
              </a:blipFill>
            </p:spPr>
            <p:txBody>
              <a:bodyPr/>
              <a:lstStyle/>
              <a:p>
                <a:r>
                  <a:rPr lang="en-DE">
                    <a:noFill/>
                  </a:rPr>
                  <a:t> </a:t>
                </a:r>
              </a:p>
            </p:txBody>
          </p:sp>
        </mc:Fallback>
      </mc:AlternateContent>
    </p:spTree>
    <p:extLst>
      <p:ext uri="{BB962C8B-B14F-4D97-AF65-F5344CB8AC3E}">
        <p14:creationId xmlns:p14="http://schemas.microsoft.com/office/powerpoint/2010/main" val="3551943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EE25E-66D8-AD79-01DC-5CB920E10DAC}"/>
              </a:ext>
            </a:extLst>
          </p:cNvPr>
          <p:cNvSpPr>
            <a:spLocks noGrp="1"/>
          </p:cNvSpPr>
          <p:nvPr>
            <p:ph type="title"/>
          </p:nvPr>
        </p:nvSpPr>
        <p:spPr/>
        <p:txBody>
          <a:bodyPr/>
          <a:lstStyle/>
          <a:p>
            <a:r>
              <a:rPr lang="en-GB" dirty="0"/>
              <a:t>Comparison of regression coefficients and model fit across full and subset models.</a:t>
            </a:r>
            <a:endParaRPr lang="en-DE" dirty="0"/>
          </a:p>
        </p:txBody>
      </p:sp>
      <p:pic>
        <p:nvPicPr>
          <p:cNvPr id="5" name="Content Placeholder 4">
            <a:extLst>
              <a:ext uri="{FF2B5EF4-FFF2-40B4-BE49-F238E27FC236}">
                <a16:creationId xmlns:a16="http://schemas.microsoft.com/office/drawing/2014/main" id="{C0429A4B-C72B-2F5C-57EC-C02029D6B96E}"/>
              </a:ext>
            </a:extLst>
          </p:cNvPr>
          <p:cNvPicPr>
            <a:picLocks noGrp="1" noChangeAspect="1"/>
          </p:cNvPicPr>
          <p:nvPr>
            <p:ph idx="1"/>
          </p:nvPr>
        </p:nvPicPr>
        <p:blipFill>
          <a:blip r:embed="rId2"/>
          <a:stretch>
            <a:fillRect/>
          </a:stretch>
        </p:blipFill>
        <p:spPr>
          <a:xfrm>
            <a:off x="630506" y="1690687"/>
            <a:ext cx="3367915" cy="5051873"/>
          </a:xfr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E707A02-CE4B-A3ED-12CC-7FD195B8C071}"/>
                  </a:ext>
                </a:extLst>
              </p:cNvPr>
              <p:cNvSpPr txBox="1"/>
              <p:nvPr/>
            </p:nvSpPr>
            <p:spPr>
              <a:xfrm>
                <a:off x="4520045" y="2274838"/>
                <a:ext cx="6552508" cy="2367764"/>
              </a:xfrm>
              <a:prstGeom prst="rect">
                <a:avLst/>
              </a:prstGeom>
              <a:noFill/>
            </p:spPr>
            <p:txBody>
              <a:bodyPr wrap="square">
                <a:spAutoFit/>
              </a:bodyPr>
              <a:lstStyle/>
              <a:p>
                <a:pPr marL="342900" indent="-342900" algn="just">
                  <a:buAutoNum type="alphaUcParenBoth"/>
                </a:pPr>
                <a:r>
                  <a:rPr lang="en-DE" sz="1600" dirty="0"/>
                  <a:t>Dot-heatmap of significant single-predictor regression slopes (</a:t>
                </a:r>
                <a14:m>
                  <m:oMath xmlns:m="http://schemas.openxmlformats.org/officeDocument/2006/math">
                    <m:sSub>
                      <m:sSubPr>
                        <m:ctrlPr>
                          <a:rPr lang="en-DE" sz="1600" i="1" smtClean="0">
                            <a:latin typeface="Cambria Math" panose="02040503050406030204" pitchFamily="18" charset="0"/>
                          </a:rPr>
                        </m:ctrlPr>
                      </m:sSubPr>
                      <m:e>
                        <m:r>
                          <a:rPr lang="en-DE" sz="1600" i="1" smtClean="0">
                            <a:latin typeface="Cambria Math" panose="02040503050406030204" pitchFamily="18" charset="0"/>
                            <a:ea typeface="Cambria Math" panose="02040503050406030204" pitchFamily="18" charset="0"/>
                          </a:rPr>
                          <m:t>𝛽</m:t>
                        </m:r>
                      </m:e>
                      <m:sub>
                        <m:r>
                          <a:rPr lang="de-DE" sz="1600" b="0" i="1" smtClean="0">
                            <a:latin typeface="Cambria Math" panose="02040503050406030204" pitchFamily="18" charset="0"/>
                          </a:rPr>
                          <m:t>1</m:t>
                        </m:r>
                      </m:sub>
                    </m:sSub>
                  </m:oMath>
                </a14:m>
                <a:r>
                  <a:rPr lang="en-DE" sz="1600" dirty="0"/>
                  <a:t>) for the full model: each point’s color indicates the sign and magnitude of </a:t>
                </a:r>
                <a14:m>
                  <m:oMath xmlns:m="http://schemas.openxmlformats.org/officeDocument/2006/math">
                    <m:sSub>
                      <m:sSubPr>
                        <m:ctrlPr>
                          <a:rPr lang="en-DE" sz="1600" i="1" smtClean="0">
                            <a:latin typeface="Cambria Math" panose="02040503050406030204" pitchFamily="18" charset="0"/>
                          </a:rPr>
                        </m:ctrlPr>
                      </m:sSubPr>
                      <m:e>
                        <m:r>
                          <a:rPr lang="en-DE" sz="1600" i="1" smtClean="0">
                            <a:latin typeface="Cambria Math" panose="02040503050406030204" pitchFamily="18" charset="0"/>
                            <a:ea typeface="Cambria Math" panose="02040503050406030204" pitchFamily="18" charset="0"/>
                          </a:rPr>
                          <m:t>𝛽</m:t>
                        </m:r>
                      </m:e>
                      <m:sub>
                        <m:r>
                          <a:rPr lang="de-DE" sz="1600" b="0" i="1" smtClean="0">
                            <a:latin typeface="Cambria Math" panose="02040503050406030204" pitchFamily="18" charset="0"/>
                          </a:rPr>
                          <m:t>1</m:t>
                        </m:r>
                      </m:sub>
                    </m:sSub>
                  </m:oMath>
                </a14:m>
                <a:r>
                  <a:rPr lang="en-DE" sz="1600" dirty="0"/>
                  <a:t>, its size (0–1 scale) reflects precision, and asterisks denote significance (* p &lt; 0.05, ** p &lt; 0.01, *** p &lt; 0.001).</a:t>
                </a:r>
              </a:p>
              <a:p>
                <a:pPr marL="342900" indent="-342900" algn="just">
                  <a:buAutoNum type="alphaUcParenBoth"/>
                </a:pPr>
                <a:endParaRPr lang="en-DE" sz="1600" dirty="0"/>
              </a:p>
              <a:p>
                <a:pPr marL="342900" indent="-342900" algn="just">
                  <a:buAutoNum type="alphaUcParenBoth"/>
                </a:pPr>
                <a:r>
                  <a:rPr lang="en-DE" sz="1600" dirty="0"/>
                  <a:t>Dot-heatmap of significant </a:t>
                </a:r>
                <a14:m>
                  <m:oMath xmlns:m="http://schemas.openxmlformats.org/officeDocument/2006/math">
                    <m:sSub>
                      <m:sSubPr>
                        <m:ctrlPr>
                          <a:rPr lang="en-DE" sz="1600" i="1" smtClean="0">
                            <a:latin typeface="Cambria Math" panose="02040503050406030204" pitchFamily="18" charset="0"/>
                          </a:rPr>
                        </m:ctrlPr>
                      </m:sSubPr>
                      <m:e>
                        <m:r>
                          <a:rPr lang="en-DE" sz="1600" i="1" smtClean="0">
                            <a:latin typeface="Cambria Math" panose="02040503050406030204" pitchFamily="18" charset="0"/>
                            <a:ea typeface="Cambria Math" panose="02040503050406030204" pitchFamily="18" charset="0"/>
                          </a:rPr>
                          <m:t>𝛽</m:t>
                        </m:r>
                      </m:e>
                      <m:sub>
                        <m:r>
                          <a:rPr lang="de-DE" sz="1600" b="0" i="1" smtClean="0">
                            <a:latin typeface="Cambria Math" panose="02040503050406030204" pitchFamily="18" charset="0"/>
                          </a:rPr>
                          <m:t>1</m:t>
                        </m:r>
                      </m:sub>
                    </m:sSub>
                  </m:oMath>
                </a14:m>
                <a:r>
                  <a:rPr lang="en-DE" sz="1600" dirty="0"/>
                  <a:t> for the subset model. </a:t>
                </a:r>
              </a:p>
              <a:p>
                <a:pPr marL="342900" indent="-342900" algn="just">
                  <a:buAutoNum type="alphaUcParenBoth"/>
                </a:pPr>
                <a:endParaRPr lang="en-DE" sz="1600" dirty="0"/>
              </a:p>
              <a:p>
                <a:pPr marL="342900" indent="-342900" algn="just">
                  <a:buAutoNum type="alphaUcParenBoth"/>
                </a:pPr>
                <a:r>
                  <a:rPr lang="en-DE" sz="1600" dirty="0"/>
                  <a:t>Mirrored bar plot of model fit (</a:t>
                </a:r>
                <a14:m>
                  <m:oMath xmlns:m="http://schemas.openxmlformats.org/officeDocument/2006/math">
                    <m:sSup>
                      <m:sSupPr>
                        <m:ctrlPr>
                          <a:rPr lang="en-DE" sz="1600" i="1" smtClean="0">
                            <a:latin typeface="Cambria Math" panose="02040503050406030204" pitchFamily="18" charset="0"/>
                          </a:rPr>
                        </m:ctrlPr>
                      </m:sSupPr>
                      <m:e>
                        <m:r>
                          <a:rPr lang="de-DE" sz="1600" b="0" i="1" smtClean="0">
                            <a:latin typeface="Cambria Math" panose="02040503050406030204" pitchFamily="18" charset="0"/>
                          </a:rPr>
                          <m:t>𝑅</m:t>
                        </m:r>
                      </m:e>
                      <m:sup>
                        <m:r>
                          <a:rPr lang="de-DE" sz="1600" b="0" i="1" smtClean="0">
                            <a:latin typeface="Cambria Math" panose="02040503050406030204" pitchFamily="18" charset="0"/>
                          </a:rPr>
                          <m:t>2</m:t>
                        </m:r>
                      </m:sup>
                    </m:sSup>
                  </m:oMath>
                </a14:m>
                <a:r>
                  <a:rPr lang="en-DE" sz="1600" dirty="0"/>
                  <a:t>) by plasticity score: left-facing bars show full-model</a:t>
                </a:r>
                <a14:m>
                  <m:oMath xmlns:m="http://schemas.openxmlformats.org/officeDocument/2006/math">
                    <m:sSup>
                      <m:sSupPr>
                        <m:ctrlPr>
                          <a:rPr lang="en-DE" sz="1600" i="1" smtClean="0">
                            <a:latin typeface="Cambria Math" panose="02040503050406030204" pitchFamily="18" charset="0"/>
                          </a:rPr>
                        </m:ctrlPr>
                      </m:sSupPr>
                      <m:e>
                        <m:r>
                          <a:rPr lang="de-DE" sz="1600" b="0" i="1" smtClean="0">
                            <a:latin typeface="Cambria Math" panose="02040503050406030204" pitchFamily="18" charset="0"/>
                          </a:rPr>
                          <m:t> </m:t>
                        </m:r>
                        <m:r>
                          <a:rPr lang="de-DE" sz="1600" b="0" i="1" smtClean="0">
                            <a:latin typeface="Cambria Math" panose="02040503050406030204" pitchFamily="18" charset="0"/>
                          </a:rPr>
                          <m:t>𝑅</m:t>
                        </m:r>
                      </m:e>
                      <m:sup>
                        <m:r>
                          <a:rPr lang="de-DE" sz="1600" b="0" i="1" smtClean="0">
                            <a:latin typeface="Cambria Math" panose="02040503050406030204" pitchFamily="18" charset="0"/>
                          </a:rPr>
                          <m:t>2</m:t>
                        </m:r>
                      </m:sup>
                    </m:sSup>
                  </m:oMath>
                </a14:m>
                <a:r>
                  <a:rPr lang="en-DE" sz="1600" dirty="0"/>
                  <a:t>, right-facing bars show subset-model </a:t>
                </a:r>
                <a14:m>
                  <m:oMath xmlns:m="http://schemas.openxmlformats.org/officeDocument/2006/math">
                    <m:sSup>
                      <m:sSupPr>
                        <m:ctrlPr>
                          <a:rPr lang="en-DE" sz="1600" i="1" smtClean="0">
                            <a:latin typeface="Cambria Math" panose="02040503050406030204" pitchFamily="18" charset="0"/>
                          </a:rPr>
                        </m:ctrlPr>
                      </m:sSupPr>
                      <m:e>
                        <m:r>
                          <a:rPr lang="de-DE" sz="1600" b="0" i="1" smtClean="0">
                            <a:latin typeface="Cambria Math" panose="02040503050406030204" pitchFamily="18" charset="0"/>
                          </a:rPr>
                          <m:t>𝑅</m:t>
                        </m:r>
                      </m:e>
                      <m:sup>
                        <m:r>
                          <a:rPr lang="de-DE" sz="1600" b="0" i="1" smtClean="0">
                            <a:latin typeface="Cambria Math" panose="02040503050406030204" pitchFamily="18" charset="0"/>
                          </a:rPr>
                          <m:t>2</m:t>
                        </m:r>
                      </m:sup>
                    </m:sSup>
                  </m:oMath>
                </a14:m>
                <a:r>
                  <a:rPr lang="en-DE" sz="1600" dirty="0"/>
                  <a:t> </a:t>
                </a:r>
              </a:p>
            </p:txBody>
          </p:sp>
        </mc:Choice>
        <mc:Fallback xmlns="">
          <p:sp>
            <p:nvSpPr>
              <p:cNvPr id="7" name="TextBox 6">
                <a:extLst>
                  <a:ext uri="{FF2B5EF4-FFF2-40B4-BE49-F238E27FC236}">
                    <a16:creationId xmlns:a16="http://schemas.microsoft.com/office/drawing/2014/main" id="{7E707A02-CE4B-A3ED-12CC-7FD195B8C071}"/>
                  </a:ext>
                </a:extLst>
              </p:cNvPr>
              <p:cNvSpPr txBox="1">
                <a:spLocks noRot="1" noChangeAspect="1" noMove="1" noResize="1" noEditPoints="1" noAdjustHandles="1" noChangeArrowheads="1" noChangeShapeType="1" noTextEdit="1"/>
              </p:cNvSpPr>
              <p:nvPr/>
            </p:nvSpPr>
            <p:spPr>
              <a:xfrm>
                <a:off x="4520045" y="2274838"/>
                <a:ext cx="6552508" cy="2367764"/>
              </a:xfrm>
              <a:prstGeom prst="rect">
                <a:avLst/>
              </a:prstGeom>
              <a:blipFill>
                <a:blip r:embed="rId3"/>
                <a:stretch>
                  <a:fillRect l="-580" t="-1070" r="-580"/>
                </a:stretch>
              </a:blipFill>
            </p:spPr>
            <p:txBody>
              <a:bodyPr/>
              <a:lstStyle/>
              <a:p>
                <a:r>
                  <a:rPr lang="en-DE">
                    <a:noFill/>
                  </a:rPr>
                  <a:t> </a:t>
                </a:r>
              </a:p>
            </p:txBody>
          </p:sp>
        </mc:Fallback>
      </mc:AlternateContent>
    </p:spTree>
    <p:extLst>
      <p:ext uri="{BB962C8B-B14F-4D97-AF65-F5344CB8AC3E}">
        <p14:creationId xmlns:p14="http://schemas.microsoft.com/office/powerpoint/2010/main" val="3006925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C0FE7-EEDA-F7E9-D393-DB261CCD7657}"/>
              </a:ext>
            </a:extLst>
          </p:cNvPr>
          <p:cNvSpPr>
            <a:spLocks noGrp="1"/>
          </p:cNvSpPr>
          <p:nvPr>
            <p:ph type="title"/>
          </p:nvPr>
        </p:nvSpPr>
        <p:spPr/>
        <p:txBody>
          <a:bodyPr/>
          <a:lstStyle/>
          <a:p>
            <a:r>
              <a:rPr lang="en-GB" dirty="0"/>
              <a:t>Effects of sampling resolution on plasticity-score and trait distribution metrics</a:t>
            </a:r>
            <a:endParaRPr lang="en-DE" dirty="0"/>
          </a:p>
        </p:txBody>
      </p:sp>
      <p:pic>
        <p:nvPicPr>
          <p:cNvPr id="7" name="Content Placeholder 6">
            <a:extLst>
              <a:ext uri="{FF2B5EF4-FFF2-40B4-BE49-F238E27FC236}">
                <a16:creationId xmlns:a16="http://schemas.microsoft.com/office/drawing/2014/main" id="{B2EEFC32-4FD4-984C-9231-01325FDF556E}"/>
              </a:ext>
            </a:extLst>
          </p:cNvPr>
          <p:cNvPicPr>
            <a:picLocks noGrp="1" noChangeAspect="1"/>
          </p:cNvPicPr>
          <p:nvPr>
            <p:ph idx="1"/>
          </p:nvPr>
        </p:nvPicPr>
        <p:blipFill>
          <a:blip r:embed="rId2"/>
          <a:stretch>
            <a:fillRect/>
          </a:stretch>
        </p:blipFill>
        <p:spPr>
          <a:xfrm>
            <a:off x="777264" y="1767436"/>
            <a:ext cx="4285187" cy="4944447"/>
          </a:xfrm>
        </p:spPr>
      </p:pic>
      <p:sp>
        <p:nvSpPr>
          <p:cNvPr id="8" name="TextBox 7">
            <a:extLst>
              <a:ext uri="{FF2B5EF4-FFF2-40B4-BE49-F238E27FC236}">
                <a16:creationId xmlns:a16="http://schemas.microsoft.com/office/drawing/2014/main" id="{888ADC0D-D5EB-64C8-920B-4B973A3E5B08}"/>
              </a:ext>
            </a:extLst>
          </p:cNvPr>
          <p:cNvSpPr txBox="1"/>
          <p:nvPr/>
        </p:nvSpPr>
        <p:spPr>
          <a:xfrm>
            <a:off x="5338134" y="3050771"/>
            <a:ext cx="6076602" cy="2585323"/>
          </a:xfrm>
          <a:prstGeom prst="rect">
            <a:avLst/>
          </a:prstGeom>
          <a:noFill/>
        </p:spPr>
        <p:txBody>
          <a:bodyPr wrap="square" rtlCol="0">
            <a:spAutoFit/>
          </a:bodyPr>
          <a:lstStyle/>
          <a:p>
            <a:pPr algn="just"/>
            <a:r>
              <a:rPr lang="en-GB" dirty="0"/>
              <a:t>Boxplots show the distribution of plasticity-score realizations (blue) and trait-distribution summary statistics (red) across sampling designs ranging from two extreme environments to fifty evenly spaced samples along the environmental gradient. Each paired boxplot illustrates how increasing the number of equidistant samples alters the distributions of plasticity scores, whereas the central tendency and dispersion of the underlying trait-distribution metrics remain essentially stable.</a:t>
            </a:r>
            <a:endParaRPr lang="en-DE" dirty="0"/>
          </a:p>
        </p:txBody>
      </p:sp>
    </p:spTree>
    <p:extLst>
      <p:ext uri="{BB962C8B-B14F-4D97-AF65-F5344CB8AC3E}">
        <p14:creationId xmlns:p14="http://schemas.microsoft.com/office/powerpoint/2010/main" val="2200124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0F95E-9541-BE73-7672-8D35156A7ABB}"/>
              </a:ext>
            </a:extLst>
          </p:cNvPr>
          <p:cNvSpPr>
            <a:spLocks noGrp="1"/>
          </p:cNvSpPr>
          <p:nvPr>
            <p:ph type="title"/>
          </p:nvPr>
        </p:nvSpPr>
        <p:spPr/>
        <p:txBody>
          <a:bodyPr/>
          <a:lstStyle/>
          <a:p>
            <a:r>
              <a:rPr lang="en-GB" dirty="0"/>
              <a:t>Sampling effort effects on plasticity scores and trait-statistic correlations</a:t>
            </a:r>
            <a:endParaRPr lang="en-DE" dirty="0"/>
          </a:p>
        </p:txBody>
      </p:sp>
      <p:pic>
        <p:nvPicPr>
          <p:cNvPr id="5" name="Content Placeholder 4">
            <a:extLst>
              <a:ext uri="{FF2B5EF4-FFF2-40B4-BE49-F238E27FC236}">
                <a16:creationId xmlns:a16="http://schemas.microsoft.com/office/drawing/2014/main" id="{1FCF9295-60EC-61AA-0FF6-BAC667B6D02B}"/>
              </a:ext>
            </a:extLst>
          </p:cNvPr>
          <p:cNvPicPr>
            <a:picLocks noGrp="1" noChangeAspect="1"/>
          </p:cNvPicPr>
          <p:nvPr>
            <p:ph idx="1"/>
          </p:nvPr>
        </p:nvPicPr>
        <p:blipFill>
          <a:blip r:embed="rId2"/>
          <a:stretch>
            <a:fillRect/>
          </a:stretch>
        </p:blipFill>
        <p:spPr>
          <a:xfrm>
            <a:off x="821574" y="1850563"/>
            <a:ext cx="4533612" cy="4533612"/>
          </a:xfrm>
        </p:spPr>
      </p:pic>
      <p:sp>
        <p:nvSpPr>
          <p:cNvPr id="7" name="TextBox 6">
            <a:extLst>
              <a:ext uri="{FF2B5EF4-FFF2-40B4-BE49-F238E27FC236}">
                <a16:creationId xmlns:a16="http://schemas.microsoft.com/office/drawing/2014/main" id="{20841DC6-2CF7-0AB8-9A08-65644B978F9B}"/>
              </a:ext>
            </a:extLst>
          </p:cNvPr>
          <p:cNvSpPr txBox="1"/>
          <p:nvPr/>
        </p:nvSpPr>
        <p:spPr>
          <a:xfrm>
            <a:off x="5463251" y="2963207"/>
            <a:ext cx="6325986" cy="2308324"/>
          </a:xfrm>
          <a:prstGeom prst="rect">
            <a:avLst/>
          </a:prstGeom>
          <a:noFill/>
        </p:spPr>
        <p:txBody>
          <a:bodyPr wrap="square" rtlCol="0">
            <a:spAutoFit/>
          </a:bodyPr>
          <a:lstStyle/>
          <a:p>
            <a:pPr marL="342900" indent="-342900" algn="just">
              <a:buAutoNum type="alphaUcParenBoth"/>
            </a:pPr>
            <a:r>
              <a:rPr lang="en-GB" sz="1600" dirty="0"/>
              <a:t>Dot-chart of per-metric slopes for the effect of sample size on plasticity-score realizations. Points are </a:t>
            </a:r>
            <a:r>
              <a:rPr lang="en-GB" sz="1600" dirty="0" err="1"/>
              <a:t>colored</a:t>
            </a:r>
            <a:r>
              <a:rPr lang="en-GB" sz="1600" dirty="0"/>
              <a:t> “robust” (blue) or “sample-size sensitive” (red) based on a combined magnitude–significance rule; horizontal bars denote 95% confidence intervals. </a:t>
            </a:r>
          </a:p>
          <a:p>
            <a:pPr marL="342900" indent="-342900" algn="just">
              <a:buAutoNum type="alphaUcParenBoth"/>
            </a:pPr>
            <a:r>
              <a:rPr lang="en-GB" sz="1600" dirty="0"/>
              <a:t>Heatmap of the slopes from linear models predicting each score–summary-statistic correlation as a function of sample size. Tile </a:t>
            </a:r>
            <a:r>
              <a:rPr lang="en-GB" sz="1600" dirty="0" err="1"/>
              <a:t>colors</a:t>
            </a:r>
            <a:r>
              <a:rPr lang="en-GB" sz="1600" dirty="0"/>
              <a:t> indicate the slope sign and magnitude and overlaid labels show the corresponding p-values.</a:t>
            </a:r>
            <a:endParaRPr lang="en-DE" sz="1600" dirty="0"/>
          </a:p>
        </p:txBody>
      </p:sp>
    </p:spTree>
    <p:extLst>
      <p:ext uri="{BB962C8B-B14F-4D97-AF65-F5344CB8AC3E}">
        <p14:creationId xmlns:p14="http://schemas.microsoft.com/office/powerpoint/2010/main" val="2078925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D5796-2350-B425-5E22-D94F5783C4C8}"/>
              </a:ext>
            </a:extLst>
          </p:cNvPr>
          <p:cNvSpPr>
            <a:spLocks noGrp="1"/>
          </p:cNvSpPr>
          <p:nvPr>
            <p:ph type="title"/>
          </p:nvPr>
        </p:nvSpPr>
        <p:spPr/>
        <p:txBody>
          <a:bodyPr/>
          <a:lstStyle/>
          <a:p>
            <a:r>
              <a:rPr lang="en-GB" dirty="0"/>
              <a:t>Sampling effort effects on plasticity-score realizations</a:t>
            </a:r>
            <a:endParaRPr lang="en-DE" dirty="0"/>
          </a:p>
        </p:txBody>
      </p:sp>
      <p:pic>
        <p:nvPicPr>
          <p:cNvPr id="5" name="Content Placeholder 4">
            <a:extLst>
              <a:ext uri="{FF2B5EF4-FFF2-40B4-BE49-F238E27FC236}">
                <a16:creationId xmlns:a16="http://schemas.microsoft.com/office/drawing/2014/main" id="{A91D569C-8E1D-76BB-28E9-F275AEF96C16}"/>
              </a:ext>
            </a:extLst>
          </p:cNvPr>
          <p:cNvPicPr>
            <a:picLocks noGrp="1" noChangeAspect="1"/>
          </p:cNvPicPr>
          <p:nvPr>
            <p:ph idx="1"/>
          </p:nvPr>
        </p:nvPicPr>
        <p:blipFill>
          <a:blip r:embed="rId2"/>
          <a:stretch>
            <a:fillRect/>
          </a:stretch>
        </p:blipFill>
        <p:spPr>
          <a:xfrm>
            <a:off x="348731" y="1925378"/>
            <a:ext cx="3481070" cy="4351338"/>
          </a:xfrm>
        </p:spPr>
      </p:pic>
      <p:sp>
        <p:nvSpPr>
          <p:cNvPr id="6" name="TextBox 5">
            <a:extLst>
              <a:ext uri="{FF2B5EF4-FFF2-40B4-BE49-F238E27FC236}">
                <a16:creationId xmlns:a16="http://schemas.microsoft.com/office/drawing/2014/main" id="{B86CA55B-DEB1-9032-F54F-D247BA65488C}"/>
              </a:ext>
            </a:extLst>
          </p:cNvPr>
          <p:cNvSpPr txBox="1"/>
          <p:nvPr/>
        </p:nvSpPr>
        <p:spPr>
          <a:xfrm>
            <a:off x="5048598" y="3193106"/>
            <a:ext cx="5932515" cy="1815882"/>
          </a:xfrm>
          <a:prstGeom prst="rect">
            <a:avLst/>
          </a:prstGeom>
          <a:noFill/>
        </p:spPr>
        <p:txBody>
          <a:bodyPr wrap="square" rtlCol="0">
            <a:spAutoFit/>
          </a:bodyPr>
          <a:lstStyle/>
          <a:p>
            <a:pPr algn="just"/>
            <a:r>
              <a:rPr lang="en-GB" sz="1600" dirty="0" err="1"/>
              <a:t>Dotchart</a:t>
            </a:r>
            <a:r>
              <a:rPr lang="en-GB" sz="1600" dirty="0"/>
              <a:t> of slope estimates from linear mixed-effects models quantifying the influence of sample size on each plasticity metric, with nine trait-distribution summary statistics included as confounders. Points are </a:t>
            </a:r>
            <a:r>
              <a:rPr lang="en-GB" sz="1600" dirty="0" err="1"/>
              <a:t>colored</a:t>
            </a:r>
            <a:r>
              <a:rPr lang="en-GB" sz="1600" dirty="0"/>
              <a:t> by classification—“robust” (blue) or “sample-size-sensitive” (red)—according to effect magnitude and BH-adjusted p-values, and horizontal bars denote 95% confidence intervals.</a:t>
            </a:r>
            <a:endParaRPr lang="en-DE" sz="1600" dirty="0"/>
          </a:p>
        </p:txBody>
      </p:sp>
    </p:spTree>
    <p:extLst>
      <p:ext uri="{BB962C8B-B14F-4D97-AF65-F5344CB8AC3E}">
        <p14:creationId xmlns:p14="http://schemas.microsoft.com/office/powerpoint/2010/main" val="28873902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AA876DB-1E8C-F94E-9A62-E5C29F332AB5}">
  <we:reference id="wa104381909" version="3.18.1.0" store="en-US" storeType="OMEX"/>
  <we:alternateReferences>
    <we:reference id="wa104381909" version="3.18.1.0"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762</TotalTime>
  <Words>1147</Words>
  <Application>Microsoft Macintosh PowerPoint</Application>
  <PresentationFormat>Widescreen</PresentationFormat>
  <Paragraphs>90</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-webkit-standard</vt:lpstr>
      <vt:lpstr>Aptos</vt:lpstr>
      <vt:lpstr>Aptos Display</vt:lpstr>
      <vt:lpstr>Arial</vt:lpstr>
      <vt:lpstr>Cambria Math</vt:lpstr>
      <vt:lpstr>Source Sans Pro</vt:lpstr>
      <vt:lpstr>Wingdings</vt:lpstr>
      <vt:lpstr>Office Theme</vt:lpstr>
      <vt:lpstr>CRC 1644 - Z2 Progress</vt:lpstr>
      <vt:lpstr>Data Synthesis</vt:lpstr>
      <vt:lpstr>Data Synthesis</vt:lpstr>
      <vt:lpstr>Plasticity scores </vt:lpstr>
      <vt:lpstr>Plasticity score equations</vt:lpstr>
      <vt:lpstr>Plasticity score equations</vt:lpstr>
      <vt:lpstr>Plasticity score equations</vt:lpstr>
      <vt:lpstr>Plasticity score equations</vt:lpstr>
      <vt:lpstr>Realisation and clustering of plasticity-score patterns in simulated data</vt:lpstr>
      <vt:lpstr>Realisation of plasticity-score in simulated data</vt:lpstr>
      <vt:lpstr>Clustering of plasticity-score in simulated data</vt:lpstr>
      <vt:lpstr>Hierarchical clustering of plasticity-score correlation distances by genotype response type.</vt:lpstr>
      <vt:lpstr>Links between trait-distribution statistics and plasticity indices</vt:lpstr>
      <vt:lpstr>Comparison of regression coefficients and model fit across full and subset models.</vt:lpstr>
      <vt:lpstr>Effects of sampling resolution on plasticity-score and trait distribution metrics</vt:lpstr>
      <vt:lpstr>Sampling effort effects on plasticity scores and trait-statistic correlations</vt:lpstr>
      <vt:lpstr>Sampling effort effects on plasticity-score realizations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CRC 1644 - Z2 Progress</dc:title>
  <dc:creator>Benedikt Haarscheidt</dc:creator>
  <cp:lastModifiedBy>Benedikt Haarscheidt</cp:lastModifiedBy>
  <cp:revision>3</cp:revision>
  <dcterms:created xsi:type="dcterms:W3CDTF">2025-06-03T07:30:49Z</dcterms:created>
  <dcterms:modified xsi:type="dcterms:W3CDTF">2025-07-25T15:30:27Z</dcterms:modified>
</cp:coreProperties>
</file>